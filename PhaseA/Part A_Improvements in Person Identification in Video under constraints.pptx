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7"/>
  </p:notesMasterIdLst>
  <p:sldIdLst>
    <p:sldId id="256" r:id="rId2"/>
    <p:sldId id="257" r:id="rId3"/>
    <p:sldId id="258" r:id="rId4"/>
    <p:sldId id="263" r:id="rId5"/>
    <p:sldId id="264" r:id="rId6"/>
    <p:sldId id="265" r:id="rId7"/>
    <p:sldId id="267" r:id="rId8"/>
    <p:sldId id="268" r:id="rId9"/>
    <p:sldId id="269" r:id="rId10"/>
    <p:sldId id="266" r:id="rId11"/>
    <p:sldId id="262" r:id="rId12"/>
    <p:sldId id="271" r:id="rId13"/>
    <p:sldId id="272" r:id="rId14"/>
    <p:sldId id="273" r:id="rId15"/>
    <p:sldId id="270" r:id="rId16"/>
    <p:sldId id="274" r:id="rId17"/>
    <p:sldId id="275" r:id="rId18"/>
    <p:sldId id="276" r:id="rId19"/>
    <p:sldId id="277" r:id="rId20"/>
    <p:sldId id="278" r:id="rId21"/>
    <p:sldId id="281" r:id="rId22"/>
    <p:sldId id="279" r:id="rId23"/>
    <p:sldId id="280" r:id="rId24"/>
    <p:sldId id="282" r:id="rId25"/>
    <p:sldId id="28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09CAC-32B9-4927-B8B4-5FE5613B0C41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780FC-C4FB-405C-9866-4B51CC860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33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8f90712b2d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 :</a:t>
            </a:r>
            <a:br>
              <a:rPr lang="en-US" dirty="0"/>
            </a:br>
            <a:r>
              <a:rPr lang="en-US" dirty="0"/>
              <a:t>Yolo :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Redmon, J.,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Divvala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S.,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Girshick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R., &amp; Farhadi, A. (2016). You only look once: Unified, real-time object detection. In Proceedings of the IEEE conference on computer vision and pattern recognition (pp. 779-788).‏</a:t>
            </a:r>
            <a:br>
              <a:rPr lang="en-US" dirty="0"/>
            </a:br>
            <a:r>
              <a:rPr lang="en-US" dirty="0">
                <a:solidFill>
                  <a:schemeClr val="dk1"/>
                </a:solidFill>
              </a:rPr>
              <a:t>FaceNet  :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Schroff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F.,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Kalenichenko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D., &amp; Philbin, J. (2015).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Facenet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 unified embedding for face recognition and clustering. In Proceedings of the IEEE conference on computer vision and pattern recognition (pp. 815-823).‏‏</a:t>
            </a:r>
            <a:endParaRPr dirty="0"/>
          </a:p>
        </p:txBody>
      </p:sp>
      <p:sp>
        <p:nvSpPr>
          <p:cNvPr id="242" name="Google Shape;242;g28f90712b2d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8f90712b2d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 :</a:t>
            </a:r>
            <a:br>
              <a:rPr lang="en-US" dirty="0"/>
            </a:br>
            <a:r>
              <a:rPr lang="en-US" dirty="0"/>
              <a:t>Yolo :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Redmon, J.,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Divvala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S.,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Girshick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R., &amp; Farhadi, A. (2016). You only look once: Unified, real-time object detection. In Proceedings of the IEEE conference on computer vision and pattern recognition (pp. 779-788).‏</a:t>
            </a:r>
            <a:br>
              <a:rPr lang="en-US" dirty="0"/>
            </a:br>
            <a:r>
              <a:rPr lang="en-US" dirty="0">
                <a:solidFill>
                  <a:schemeClr val="dk1"/>
                </a:solidFill>
              </a:rPr>
              <a:t>FaceNet  :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Schroff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F.,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Kalenichenko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D., &amp; Philbin, J. (2015).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Facenet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 unified embedding for face recognition and clustering. In Proceedings of the IEEE conference on computer vision and pattern recognition (pp. 815-823).‏‏</a:t>
            </a:r>
            <a:endParaRPr dirty="0"/>
          </a:p>
        </p:txBody>
      </p:sp>
      <p:sp>
        <p:nvSpPr>
          <p:cNvPr id="242" name="Google Shape;242;g28f90712b2d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DC01-6201-45F0-8CF2-A59ED0B06449}" type="datetime1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03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5CE17-0210-4038-B9DA-40F3054E9F97}" type="datetime1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18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263A-60E6-49CF-9EF0-CC3297718496}" type="datetime1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34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46C5-9C3C-4361-B0B1-C47B125B438F}" type="datetime1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76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8185-59B2-4CFB-BDC5-29980EF9429F}" type="datetime1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08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B50D-061C-4DBC-90FA-FA15316DF746}" type="datetime1">
              <a:rPr lang="en-US" smtClean="0"/>
              <a:t>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6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3035-34EF-4434-8F13-AC190A23429F}" type="datetime1">
              <a:rPr lang="en-US" smtClean="0"/>
              <a:t>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86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27670-453A-472F-9611-1C869232457E}" type="datetime1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99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570F-F1F7-4D33-89FD-0C4F4C8DD6D9}" type="datetime1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6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C47C-3D6B-4E38-8D10-81E12ACF79A7}" type="datetime1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17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FED9-F88C-4689-BCD7-C068A22C4F81}" type="datetime1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27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B94D8-326F-489E-A12F-396F0260697B}" type="datetime1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29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8520-BC65-401C-A453-2D8285A131D7}" type="datetime1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01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4E66A-F4AA-4493-A56C-17981B835662}" type="datetime1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03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D6A1F-1296-4DD2-89B4-57048C48B0F4}" type="datetime1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310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BEF2-9F16-426D-9E35-0DFEC52F884A}" type="datetime1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00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31152-06E7-4335-AC3B-D82E1CE02385}" type="datetime1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09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AC3625D-E94C-447E-8A31-183936FC0D07}" type="datetime1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47A49F0-7D43-4B45-92EF-00662F64A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28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cocodataset.org/#home" TargetMode="External"/><Relationship Id="rId3" Type="http://schemas.openxmlformats.org/officeDocument/2006/relationships/hyperlink" Target="https://github.com/ClementPinard/FlowNetPytorch/blob/master/models/FlowNetC.py" TargetMode="External"/><Relationship Id="rId7" Type="http://schemas.openxmlformats.org/officeDocument/2006/relationships/hyperlink" Target="https://react.dev/" TargetMode="External"/><Relationship Id="rId2" Type="http://schemas.openxmlformats.org/officeDocument/2006/relationships/hyperlink" Target="https://github.com/ClementPinard/FlowNetPytorch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python.org/" TargetMode="External"/><Relationship Id="rId5" Type="http://schemas.openxmlformats.org/officeDocument/2006/relationships/hyperlink" Target="https://gist.github.com/sjain07/7b880ed494467bd44e8c4f051703a011" TargetMode="External"/><Relationship Id="rId10" Type="http://schemas.openxmlformats.org/officeDocument/2006/relationships/hyperlink" Target="https://www.ntu.edu.sg/rose/research-focus/deep-learning-video-analytics/person-re-identification" TargetMode="External"/><Relationship Id="rId4" Type="http://schemas.openxmlformats.org/officeDocument/2006/relationships/hyperlink" Target="https://github.com/ClementPinard/FlowNetPytorch/blob/master/models/FlowNetS.py" TargetMode="External"/><Relationship Id="rId9" Type="http://schemas.openxmlformats.org/officeDocument/2006/relationships/hyperlink" Target="https://docs.voxel51.com/integrations/coco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260ACC13-B825-49F3-93DE-C8B8F2FA3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32" name="Freeform 6">
              <a:extLst>
                <a:ext uri="{FF2B5EF4-FFF2-40B4-BE49-F238E27FC236}">
                  <a16:creationId xmlns:a16="http://schemas.microsoft.com/office/drawing/2014/main" id="{F947B31F-CA03-4793-845D-FD86BABC1A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3" name="Freeform 7">
              <a:extLst>
                <a:ext uri="{FF2B5EF4-FFF2-40B4-BE49-F238E27FC236}">
                  <a16:creationId xmlns:a16="http://schemas.microsoft.com/office/drawing/2014/main" id="{DCDDE94D-F78C-4A48-AEA6-E922FC99A1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" name="Freeform 8">
              <a:extLst>
                <a:ext uri="{FF2B5EF4-FFF2-40B4-BE49-F238E27FC236}">
                  <a16:creationId xmlns:a16="http://schemas.microsoft.com/office/drawing/2014/main" id="{3445A886-F3CA-4DE4-90D7-535F9707B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" name="Freeform 9">
              <a:extLst>
                <a:ext uri="{FF2B5EF4-FFF2-40B4-BE49-F238E27FC236}">
                  <a16:creationId xmlns:a16="http://schemas.microsoft.com/office/drawing/2014/main" id="{A8999CB6-C053-418B-AE37-E470804D2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8" name="Freeform 10">
              <a:extLst>
                <a:ext uri="{FF2B5EF4-FFF2-40B4-BE49-F238E27FC236}">
                  <a16:creationId xmlns:a16="http://schemas.microsoft.com/office/drawing/2014/main" id="{81EA3E26-BFCD-4396-AE8A-2A9828BFF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9" name="Freeform 11">
              <a:extLst>
                <a:ext uri="{FF2B5EF4-FFF2-40B4-BE49-F238E27FC236}">
                  <a16:creationId xmlns:a16="http://schemas.microsoft.com/office/drawing/2014/main" id="{5F9BC582-73A6-4D8A-8738-E36476489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060" name="Rectangle 1059">
            <a:extLst>
              <a:ext uri="{FF2B5EF4-FFF2-40B4-BE49-F238E27FC236}">
                <a16:creationId xmlns:a16="http://schemas.microsoft.com/office/drawing/2014/main" id="{6CA4EC59-B8A3-489A-9FB4-AA0699200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BE39E1-FAD5-ED5F-9873-F4F1D500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8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1" name="Freeform 15">
            <a:extLst>
              <a:ext uri="{FF2B5EF4-FFF2-40B4-BE49-F238E27FC236}">
                <a16:creationId xmlns:a16="http://schemas.microsoft.com/office/drawing/2014/main" id="{1143E968-E203-496D-A1AD-2EA10AB3E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3005669" y="-16933"/>
            <a:ext cx="9220200" cy="6891867"/>
          </a:xfrm>
          <a:custGeom>
            <a:avLst/>
            <a:gdLst>
              <a:gd name="connsiteX0" fmla="*/ 5427133 w 7340600"/>
              <a:gd name="connsiteY0" fmla="*/ 8466 h 6883400"/>
              <a:gd name="connsiteX1" fmla="*/ 4783666 w 7340600"/>
              <a:gd name="connsiteY1" fmla="*/ 2573866 h 6883400"/>
              <a:gd name="connsiteX2" fmla="*/ 7340600 w 7340600"/>
              <a:gd name="connsiteY2" fmla="*/ 6874933 h 6883400"/>
              <a:gd name="connsiteX3" fmla="*/ 0 w 7340600"/>
              <a:gd name="connsiteY3" fmla="*/ 6883400 h 6883400"/>
              <a:gd name="connsiteX4" fmla="*/ 8466 w 7340600"/>
              <a:gd name="connsiteY4" fmla="*/ 0 h 6883400"/>
              <a:gd name="connsiteX5" fmla="*/ 5427133 w 7340600"/>
              <a:gd name="connsiteY5" fmla="*/ 8466 h 6883400"/>
              <a:gd name="connsiteX0" fmla="*/ 8382001 w 10295468"/>
              <a:gd name="connsiteY0" fmla="*/ 8466 h 6883400"/>
              <a:gd name="connsiteX1" fmla="*/ 7738534 w 10295468"/>
              <a:gd name="connsiteY1" fmla="*/ 2573866 h 6883400"/>
              <a:gd name="connsiteX2" fmla="*/ 10295468 w 10295468"/>
              <a:gd name="connsiteY2" fmla="*/ 6874933 h 6883400"/>
              <a:gd name="connsiteX3" fmla="*/ 2954868 w 10295468"/>
              <a:gd name="connsiteY3" fmla="*/ 6883400 h 6883400"/>
              <a:gd name="connsiteX4" fmla="*/ 0 w 10295468"/>
              <a:gd name="connsiteY4" fmla="*/ 0 h 6883400"/>
              <a:gd name="connsiteX5" fmla="*/ 8382001 w 10295468"/>
              <a:gd name="connsiteY5" fmla="*/ 8466 h 6883400"/>
              <a:gd name="connsiteX0" fmla="*/ 8382001 w 10295468"/>
              <a:gd name="connsiteY0" fmla="*/ 8466 h 6891867"/>
              <a:gd name="connsiteX1" fmla="*/ 7738534 w 10295468"/>
              <a:gd name="connsiteY1" fmla="*/ 2573866 h 6891867"/>
              <a:gd name="connsiteX2" fmla="*/ 10295468 w 10295468"/>
              <a:gd name="connsiteY2" fmla="*/ 6874933 h 6891867"/>
              <a:gd name="connsiteX3" fmla="*/ 16935 w 10295468"/>
              <a:gd name="connsiteY3" fmla="*/ 6891867 h 6891867"/>
              <a:gd name="connsiteX4" fmla="*/ 0 w 10295468"/>
              <a:gd name="connsiteY4" fmla="*/ 0 h 6891867"/>
              <a:gd name="connsiteX5" fmla="*/ 8382001 w 10295468"/>
              <a:gd name="connsiteY5" fmla="*/ 8466 h 6891867"/>
              <a:gd name="connsiteX0" fmla="*/ 8382001 w 8382001"/>
              <a:gd name="connsiteY0" fmla="*/ 8466 h 6891867"/>
              <a:gd name="connsiteX1" fmla="*/ 7738534 w 8382001"/>
              <a:gd name="connsiteY1" fmla="*/ 2573866 h 6891867"/>
              <a:gd name="connsiteX2" fmla="*/ 7340602 w 8382001"/>
              <a:gd name="connsiteY2" fmla="*/ 6883400 h 6891867"/>
              <a:gd name="connsiteX3" fmla="*/ 16935 w 8382001"/>
              <a:gd name="connsiteY3" fmla="*/ 6891867 h 6891867"/>
              <a:gd name="connsiteX4" fmla="*/ 0 w 8382001"/>
              <a:gd name="connsiteY4" fmla="*/ 0 h 6891867"/>
              <a:gd name="connsiteX5" fmla="*/ 8382001 w 8382001"/>
              <a:gd name="connsiteY5" fmla="*/ 8466 h 6891867"/>
              <a:gd name="connsiteX0" fmla="*/ 8382001 w 9220200"/>
              <a:gd name="connsiteY0" fmla="*/ 8466 h 6891867"/>
              <a:gd name="connsiteX1" fmla="*/ 9220200 w 9220200"/>
              <a:gd name="connsiteY1" fmla="*/ 5350932 h 6891867"/>
              <a:gd name="connsiteX2" fmla="*/ 7340602 w 9220200"/>
              <a:gd name="connsiteY2" fmla="*/ 6883400 h 6891867"/>
              <a:gd name="connsiteX3" fmla="*/ 16935 w 9220200"/>
              <a:gd name="connsiteY3" fmla="*/ 6891867 h 6891867"/>
              <a:gd name="connsiteX4" fmla="*/ 0 w 9220200"/>
              <a:gd name="connsiteY4" fmla="*/ 0 h 6891867"/>
              <a:gd name="connsiteX5" fmla="*/ 8382001 w 9220200"/>
              <a:gd name="connsiteY5" fmla="*/ 8466 h 6891867"/>
              <a:gd name="connsiteX0" fmla="*/ 8382001 w 9220200"/>
              <a:gd name="connsiteY0" fmla="*/ 8466 h 6891867"/>
              <a:gd name="connsiteX1" fmla="*/ 9220200 w 9220200"/>
              <a:gd name="connsiteY1" fmla="*/ 5350932 h 6891867"/>
              <a:gd name="connsiteX2" fmla="*/ 7298269 w 9220200"/>
              <a:gd name="connsiteY2" fmla="*/ 6883400 h 6891867"/>
              <a:gd name="connsiteX3" fmla="*/ 16935 w 9220200"/>
              <a:gd name="connsiteY3" fmla="*/ 6891867 h 6891867"/>
              <a:gd name="connsiteX4" fmla="*/ 0 w 9220200"/>
              <a:gd name="connsiteY4" fmla="*/ 0 h 6891867"/>
              <a:gd name="connsiteX5" fmla="*/ 8382001 w 9220200"/>
              <a:gd name="connsiteY5" fmla="*/ 8466 h 689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0200" h="6891867">
                <a:moveTo>
                  <a:pt x="8382001" y="8466"/>
                </a:moveTo>
                <a:lnTo>
                  <a:pt x="9220200" y="5350932"/>
                </a:lnTo>
                <a:lnTo>
                  <a:pt x="7298269" y="6883400"/>
                </a:lnTo>
                <a:lnTo>
                  <a:pt x="16935" y="6891867"/>
                </a:lnTo>
                <a:lnTo>
                  <a:pt x="0" y="0"/>
                </a:lnTo>
                <a:lnTo>
                  <a:pt x="8382001" y="8466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FBB3444A-472E-400E-81D0-7CCDEEECC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1044" name="Freeform 6">
              <a:extLst>
                <a:ext uri="{FF2B5EF4-FFF2-40B4-BE49-F238E27FC236}">
                  <a16:creationId xmlns:a16="http://schemas.microsoft.com/office/drawing/2014/main" id="{B7E64D84-2392-46A1-99D2-C8FC063F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Freeform 7">
              <a:extLst>
                <a:ext uri="{FF2B5EF4-FFF2-40B4-BE49-F238E27FC236}">
                  <a16:creationId xmlns:a16="http://schemas.microsoft.com/office/drawing/2014/main" id="{89352A95-1C82-4A0D-9B20-8AC7280C7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6" name="Freeform 8">
              <a:extLst>
                <a:ext uri="{FF2B5EF4-FFF2-40B4-BE49-F238E27FC236}">
                  <a16:creationId xmlns:a16="http://schemas.microsoft.com/office/drawing/2014/main" id="{81B60E48-D617-4CF1-8900-497D49142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Freeform 9">
              <a:extLst>
                <a:ext uri="{FF2B5EF4-FFF2-40B4-BE49-F238E27FC236}">
                  <a16:creationId xmlns:a16="http://schemas.microsoft.com/office/drawing/2014/main" id="{BFF6C14F-3347-46BB-A317-C1C12263E8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Freeform 10">
              <a:extLst>
                <a:ext uri="{FF2B5EF4-FFF2-40B4-BE49-F238E27FC236}">
                  <a16:creationId xmlns:a16="http://schemas.microsoft.com/office/drawing/2014/main" id="{CDD86299-6737-471C-98C5-872BDC6810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Freeform 11">
              <a:extLst>
                <a:ext uri="{FF2B5EF4-FFF2-40B4-BE49-F238E27FC236}">
                  <a16:creationId xmlns:a16="http://schemas.microsoft.com/office/drawing/2014/main" id="{60C6C46B-7841-473B-AC3A-9A69908AB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BA9F1D-925D-0D17-2258-B020E5539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8212" y="1957652"/>
            <a:ext cx="7535333" cy="141393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dirty="0">
                <a:solidFill>
                  <a:schemeClr val="bg1"/>
                </a:solidFill>
              </a:rPr>
              <a:t>Improvements in Person Identification in Video under constraints</a:t>
            </a:r>
            <a:br>
              <a:rPr lang="en-US" sz="4400" dirty="0">
                <a:solidFill>
                  <a:schemeClr val="bg1"/>
                </a:solidFill>
              </a:rPr>
            </a:b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F1D30-4343-34A4-A699-11AE517D3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4882" y="4008121"/>
            <a:ext cx="7466535" cy="2168582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code: 25-1-R-20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Capstone Project Phase A - 61998</a:t>
            </a:r>
          </a:p>
          <a:p>
            <a:pPr marL="0" marR="0" algn="l"/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Asad </a:t>
            </a: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Saffouri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Alexandra </a:t>
            </a: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Simonishvili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algn="l"/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Supervisor: Mr. Ilya </a:t>
            </a: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Zeldner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/>
              <a:buChar char="•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206BB-2A86-7AD3-6FC8-23930D0C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9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CDEB-3687-D41F-0AD6-EAF0B06C7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685800"/>
            <a:ext cx="10018713" cy="921327"/>
          </a:xfrm>
        </p:spPr>
        <p:txBody>
          <a:bodyPr>
            <a:normAutofit/>
          </a:bodyPr>
          <a:lstStyle/>
          <a:p>
            <a:r>
              <a:rPr lang="en-US" sz="4800" b="1" dirty="0"/>
              <a:t>Overview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D55F67-9138-248F-FF6A-A65FB4BED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011700"/>
              </p:ext>
            </p:extLst>
          </p:nvPr>
        </p:nvGraphicFramePr>
        <p:xfrm>
          <a:off x="3864077" y="1782176"/>
          <a:ext cx="5752191" cy="4450080"/>
        </p:xfrm>
        <a:graphic>
          <a:graphicData uri="http://schemas.openxmlformats.org/drawingml/2006/table">
            <a:tbl>
              <a:tblPr firstRow="1" bandRow="1"/>
              <a:tblGrid>
                <a:gridCol w="3945038">
                  <a:extLst>
                    <a:ext uri="{9D8B030D-6E8A-4147-A177-3AD203B41FA5}">
                      <a16:colId xmlns:a16="http://schemas.microsoft.com/office/drawing/2014/main" val="1957655194"/>
                    </a:ext>
                  </a:extLst>
                </a:gridCol>
                <a:gridCol w="1807153">
                  <a:extLst>
                    <a:ext uri="{9D8B030D-6E8A-4147-A177-3AD203B41FA5}">
                      <a16:colId xmlns:a16="http://schemas.microsoft.com/office/drawing/2014/main" val="4207522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Introduction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6092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System solution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4-5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482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System Flow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4472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YOLOv8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5755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FaceNet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4993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FlowNet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9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0102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Architecture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6847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Diagrams &amp; Pseudo Code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11-16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0462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 Activity Diagram</a:t>
                      </a:r>
                      <a:endParaRPr 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17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8329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GUI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18-20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020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Expected Problems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21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577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Evaluation Plan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22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2909667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80B7941-4538-21BB-51C2-20C36B667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199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0C4C9-A973-5493-89FE-EE83E62D1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A3B80-EC52-A000-4898-C97204DAF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61212"/>
            <a:ext cx="10018713" cy="4004308"/>
          </a:xfrm>
        </p:spPr>
        <p:txBody>
          <a:bodyPr anchor="t">
            <a:normAutofit/>
          </a:bodyPr>
          <a:lstStyle/>
          <a:p>
            <a:endParaRPr lang="en-US" dirty="0"/>
          </a:p>
          <a:p>
            <a:r>
              <a:rPr lang="en-US" dirty="0"/>
              <a:t>There is a high demand for accurate person identification and continuous tracking under various conditions and constraints, such as changing lighting, movement, and partial or full obscurity.</a:t>
            </a:r>
          </a:p>
          <a:p>
            <a:pPr marL="0" indent="0">
              <a:buNone/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High impact in fields like: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security, media, production regulation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smart devices and vision,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public safety and emergency response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175F484-2D87-6C5A-D89B-31E686EA6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8"/>
          <a:stretch/>
        </p:blipFill>
        <p:spPr bwMode="auto">
          <a:xfrm>
            <a:off x="7007223" y="3783331"/>
            <a:ext cx="4953000" cy="278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ome Security Camera Captures Thief Break">
            <a:extLst>
              <a:ext uri="{FF2B5EF4-FFF2-40B4-BE49-F238E27FC236}">
                <a16:creationId xmlns:a16="http://schemas.microsoft.com/office/drawing/2014/main" id="{23ACE4C6-0469-823A-FFB9-597F08B8F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9863" y="410053"/>
            <a:ext cx="2880360" cy="1620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est Home Security Cameras of 2025 | Security.org">
            <a:extLst>
              <a:ext uri="{FF2B5EF4-FFF2-40B4-BE49-F238E27FC236}">
                <a16:creationId xmlns:a16="http://schemas.microsoft.com/office/drawing/2014/main" id="{32817F32-7327-6D63-383F-00F9289B5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741" y="-90486"/>
            <a:ext cx="2970369" cy="198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355FA-64C9-FAF4-1779-674FA85F1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3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245;p28">
            <a:extLst>
              <a:ext uri="{FF2B5EF4-FFF2-40B4-BE49-F238E27FC236}">
                <a16:creationId xmlns:a16="http://schemas.microsoft.com/office/drawing/2014/main" id="{9D49A438-3264-C1F6-40C2-7AC586DE0E02}"/>
              </a:ext>
            </a:extLst>
          </p:cNvPr>
          <p:cNvGrpSpPr/>
          <p:nvPr/>
        </p:nvGrpSpPr>
        <p:grpSpPr>
          <a:xfrm>
            <a:off x="9128636" y="3438509"/>
            <a:ext cx="2742859" cy="1267955"/>
            <a:chOff x="-1" y="659418"/>
            <a:chExt cx="1554321" cy="710100"/>
          </a:xfrm>
        </p:grpSpPr>
        <p:sp>
          <p:nvSpPr>
            <p:cNvPr id="9" name="Google Shape;246;p28">
              <a:extLst>
                <a:ext uri="{FF2B5EF4-FFF2-40B4-BE49-F238E27FC236}">
                  <a16:creationId xmlns:a16="http://schemas.microsoft.com/office/drawing/2014/main" id="{B6BADF5C-8514-A2CD-A44C-AF219349A3E4}"/>
                </a:ext>
              </a:extLst>
            </p:cNvPr>
            <p:cNvSpPr/>
            <p:nvPr/>
          </p:nvSpPr>
          <p:spPr>
            <a:xfrm>
              <a:off x="-1" y="660509"/>
              <a:ext cx="1554321" cy="708646"/>
            </a:xfrm>
            <a:custGeom>
              <a:avLst/>
              <a:gdLst/>
              <a:ahLst/>
              <a:cxnLst/>
              <a:rect l="l" t="t" r="r" b="b"/>
              <a:pathLst>
                <a:path w="1554321" h="1369365" extrusionOk="0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10" name="Google Shape;247;p28">
              <a:extLst>
                <a:ext uri="{FF2B5EF4-FFF2-40B4-BE49-F238E27FC236}">
                  <a16:creationId xmlns:a16="http://schemas.microsoft.com/office/drawing/2014/main" id="{94193CC9-D1E6-D3F9-CDCC-8FC827F32B9E}"/>
                </a:ext>
              </a:extLst>
            </p:cNvPr>
            <p:cNvSpPr txBox="1"/>
            <p:nvPr/>
          </p:nvSpPr>
          <p:spPr>
            <a:xfrm>
              <a:off x="-1" y="659418"/>
              <a:ext cx="1554300" cy="71010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33867" tIns="33867" rIns="33867" bIns="33867" anchor="ctr" anchorCtr="0">
              <a:noAutofit/>
            </a:bodyPr>
            <a:lstStyle/>
            <a:p>
              <a:pPr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245;p28">
            <a:extLst>
              <a:ext uri="{FF2B5EF4-FFF2-40B4-BE49-F238E27FC236}">
                <a16:creationId xmlns:a16="http://schemas.microsoft.com/office/drawing/2014/main" id="{166D2BAD-B5CF-C9AF-E786-BA116BBDAEDB}"/>
              </a:ext>
            </a:extLst>
          </p:cNvPr>
          <p:cNvGrpSpPr/>
          <p:nvPr/>
        </p:nvGrpSpPr>
        <p:grpSpPr>
          <a:xfrm>
            <a:off x="3353141" y="2527799"/>
            <a:ext cx="2742859" cy="1267955"/>
            <a:chOff x="-1" y="659418"/>
            <a:chExt cx="1554321" cy="710100"/>
          </a:xfrm>
        </p:grpSpPr>
        <p:sp>
          <p:nvSpPr>
            <p:cNvPr id="12" name="Google Shape;246;p28">
              <a:extLst>
                <a:ext uri="{FF2B5EF4-FFF2-40B4-BE49-F238E27FC236}">
                  <a16:creationId xmlns:a16="http://schemas.microsoft.com/office/drawing/2014/main" id="{A7B299E2-D57C-F80A-A10B-25D7A7703841}"/>
                </a:ext>
              </a:extLst>
            </p:cNvPr>
            <p:cNvSpPr/>
            <p:nvPr/>
          </p:nvSpPr>
          <p:spPr>
            <a:xfrm>
              <a:off x="-1" y="660509"/>
              <a:ext cx="1554321" cy="708646"/>
            </a:xfrm>
            <a:custGeom>
              <a:avLst/>
              <a:gdLst/>
              <a:ahLst/>
              <a:cxnLst/>
              <a:rect l="l" t="t" r="r" b="b"/>
              <a:pathLst>
                <a:path w="1554321" h="1369365" extrusionOk="0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13" name="Google Shape;247;p28">
              <a:extLst>
                <a:ext uri="{FF2B5EF4-FFF2-40B4-BE49-F238E27FC236}">
                  <a16:creationId xmlns:a16="http://schemas.microsoft.com/office/drawing/2014/main" id="{F36A8838-D0A3-913A-D3FD-5DDD1F0E7895}"/>
                </a:ext>
              </a:extLst>
            </p:cNvPr>
            <p:cNvSpPr txBox="1"/>
            <p:nvPr/>
          </p:nvSpPr>
          <p:spPr>
            <a:xfrm>
              <a:off x="-1" y="659418"/>
              <a:ext cx="1554300" cy="71010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33867" tIns="33867" rIns="33867" bIns="33867" anchor="ctr" anchorCtr="0">
              <a:noAutofit/>
            </a:bodyPr>
            <a:lstStyle/>
            <a:p>
              <a:pPr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oogle Shape;245;p28">
            <a:extLst>
              <a:ext uri="{FF2B5EF4-FFF2-40B4-BE49-F238E27FC236}">
                <a16:creationId xmlns:a16="http://schemas.microsoft.com/office/drawing/2014/main" id="{B37D6B4B-690B-1484-9175-7424892E5B95}"/>
              </a:ext>
            </a:extLst>
          </p:cNvPr>
          <p:cNvGrpSpPr/>
          <p:nvPr/>
        </p:nvGrpSpPr>
        <p:grpSpPr>
          <a:xfrm>
            <a:off x="6233267" y="3009753"/>
            <a:ext cx="2742859" cy="1267955"/>
            <a:chOff x="-1" y="659418"/>
            <a:chExt cx="1554321" cy="710100"/>
          </a:xfrm>
        </p:grpSpPr>
        <p:sp>
          <p:nvSpPr>
            <p:cNvPr id="6" name="Google Shape;246;p28">
              <a:extLst>
                <a:ext uri="{FF2B5EF4-FFF2-40B4-BE49-F238E27FC236}">
                  <a16:creationId xmlns:a16="http://schemas.microsoft.com/office/drawing/2014/main" id="{9B0B5F19-EECE-3E3F-2362-D46A5B02979F}"/>
                </a:ext>
              </a:extLst>
            </p:cNvPr>
            <p:cNvSpPr/>
            <p:nvPr/>
          </p:nvSpPr>
          <p:spPr>
            <a:xfrm>
              <a:off x="-1" y="660509"/>
              <a:ext cx="1554321" cy="708646"/>
            </a:xfrm>
            <a:custGeom>
              <a:avLst/>
              <a:gdLst/>
              <a:ahLst/>
              <a:cxnLst/>
              <a:rect l="l" t="t" r="r" b="b"/>
              <a:pathLst>
                <a:path w="1554321" h="1369365" extrusionOk="0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7" name="Google Shape;247;p28">
              <a:extLst>
                <a:ext uri="{FF2B5EF4-FFF2-40B4-BE49-F238E27FC236}">
                  <a16:creationId xmlns:a16="http://schemas.microsoft.com/office/drawing/2014/main" id="{6D49F7BD-4052-7620-6ED3-62ED32149EC5}"/>
                </a:ext>
              </a:extLst>
            </p:cNvPr>
            <p:cNvSpPr txBox="1"/>
            <p:nvPr/>
          </p:nvSpPr>
          <p:spPr>
            <a:xfrm>
              <a:off x="-1" y="659418"/>
              <a:ext cx="1554300" cy="71010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33867" tIns="33867" rIns="33867" bIns="33867" anchor="ctr" anchorCtr="0">
              <a:noAutofit/>
            </a:bodyPr>
            <a:lstStyle/>
            <a:p>
              <a:pPr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28"/>
          <p:cNvSpPr/>
          <p:nvPr/>
        </p:nvSpPr>
        <p:spPr>
          <a:xfrm>
            <a:off x="-175297" y="3632533"/>
            <a:ext cx="3894533" cy="769170"/>
          </a:xfrm>
          <a:custGeom>
            <a:avLst/>
            <a:gdLst/>
            <a:ahLst/>
            <a:cxnLst/>
            <a:rect l="l" t="t" r="r" b="b"/>
            <a:pathLst>
              <a:path w="5841799" h="1153755" extrusionOk="0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45" name="Google Shape;245;p28"/>
          <p:cNvGrpSpPr/>
          <p:nvPr/>
        </p:nvGrpSpPr>
        <p:grpSpPr>
          <a:xfrm>
            <a:off x="468742" y="2083552"/>
            <a:ext cx="2742859" cy="1267955"/>
            <a:chOff x="-1" y="659418"/>
            <a:chExt cx="1554321" cy="710100"/>
          </a:xfrm>
        </p:grpSpPr>
        <p:sp>
          <p:nvSpPr>
            <p:cNvPr id="246" name="Google Shape;246;p28"/>
            <p:cNvSpPr/>
            <p:nvPr/>
          </p:nvSpPr>
          <p:spPr>
            <a:xfrm>
              <a:off x="-1" y="660509"/>
              <a:ext cx="1554321" cy="708646"/>
            </a:xfrm>
            <a:custGeom>
              <a:avLst/>
              <a:gdLst/>
              <a:ahLst/>
              <a:cxnLst/>
              <a:rect l="l" t="t" r="r" b="b"/>
              <a:pathLst>
                <a:path w="1554321" h="1369365" extrusionOk="0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247" name="Google Shape;247;p28"/>
            <p:cNvSpPr txBox="1"/>
            <p:nvPr/>
          </p:nvSpPr>
          <p:spPr>
            <a:xfrm>
              <a:off x="-1" y="659418"/>
              <a:ext cx="1554300" cy="71010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33867" tIns="33867" rIns="33867" bIns="33867" anchor="ctr" anchorCtr="0">
              <a:noAutofit/>
            </a:bodyPr>
            <a:lstStyle/>
            <a:p>
              <a:pPr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" name="Google Shape;248;p28"/>
          <p:cNvGrpSpPr/>
          <p:nvPr/>
        </p:nvGrpSpPr>
        <p:grpSpPr>
          <a:xfrm>
            <a:off x="-1415925" y="-1564349"/>
            <a:ext cx="3128684" cy="3128684"/>
            <a:chOff x="0" y="0"/>
            <a:chExt cx="812800" cy="812800"/>
          </a:xfrm>
        </p:grpSpPr>
        <p:sp>
          <p:nvSpPr>
            <p:cNvPr id="249" name="Google Shape;249;p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 cmpd="sng">
              <a:solidFill>
                <a:srgbClr val="FFFFFF">
                  <a:alpha val="1529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250" name="Google Shape;250;p2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28"/>
          <p:cNvGrpSpPr/>
          <p:nvPr/>
        </p:nvGrpSpPr>
        <p:grpSpPr>
          <a:xfrm>
            <a:off x="10382479" y="5293651"/>
            <a:ext cx="3128684" cy="3128684"/>
            <a:chOff x="0" y="0"/>
            <a:chExt cx="812800" cy="812800"/>
          </a:xfrm>
        </p:grpSpPr>
        <p:sp>
          <p:nvSpPr>
            <p:cNvPr id="252" name="Google Shape;252;p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 cmpd="sng">
              <a:solidFill>
                <a:srgbClr val="FFFFFF">
                  <a:alpha val="1529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253" name="Google Shape;253;p2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28"/>
          <p:cNvSpPr txBox="1"/>
          <p:nvPr/>
        </p:nvSpPr>
        <p:spPr>
          <a:xfrm>
            <a:off x="3612567" y="340085"/>
            <a:ext cx="49692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96"/>
              </a:lnSpc>
              <a:buSzPts val="1100"/>
            </a:pPr>
            <a:r>
              <a:rPr lang="en-US" sz="4800" b="1" dirty="0">
                <a:latin typeface="+mj-lt"/>
                <a:ea typeface="Open Sans ExtraBold"/>
                <a:cs typeface="Open Sans ExtraBold"/>
                <a:sym typeface="Open Sans ExtraBold"/>
              </a:rPr>
              <a:t>Existing Solution </a:t>
            </a:r>
            <a:endParaRPr sz="4800" b="1" dirty="0">
              <a:latin typeface="+mj-lt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552072" y="2261232"/>
            <a:ext cx="2576200" cy="1206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2"/>
              </a:lnSpc>
            </a:pP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Object Detection</a:t>
            </a:r>
          </a:p>
          <a:p>
            <a:pPr algn="ctr">
              <a:lnSpc>
                <a:spcPct val="139982"/>
              </a:lnSpc>
            </a:pP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Using YOLO Model</a:t>
            </a:r>
          </a:p>
          <a:p>
            <a:pPr algn="ctr">
              <a:lnSpc>
                <a:spcPct val="139982"/>
              </a:lnSpc>
            </a:pPr>
            <a:endParaRPr sz="1867" dirty="0"/>
          </a:p>
        </p:txBody>
      </p:sp>
      <p:sp>
        <p:nvSpPr>
          <p:cNvPr id="256" name="Google Shape;256;p28"/>
          <p:cNvSpPr/>
          <p:nvPr/>
        </p:nvSpPr>
        <p:spPr>
          <a:xfrm>
            <a:off x="2730786" y="4260033"/>
            <a:ext cx="3894533" cy="769170"/>
          </a:xfrm>
          <a:custGeom>
            <a:avLst/>
            <a:gdLst/>
            <a:ahLst/>
            <a:cxnLst/>
            <a:rect l="l" t="t" r="r" b="b"/>
            <a:pathLst>
              <a:path w="5841799" h="1153755" extrusionOk="0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" name="Google Shape;260;p28"/>
          <p:cNvSpPr txBox="1"/>
          <p:nvPr/>
        </p:nvSpPr>
        <p:spPr>
          <a:xfrm>
            <a:off x="3377983" y="2768484"/>
            <a:ext cx="2576200" cy="1206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2"/>
              </a:lnSpc>
            </a:pP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Facial Recognition</a:t>
            </a:r>
          </a:p>
          <a:p>
            <a:pPr algn="ctr">
              <a:lnSpc>
                <a:spcPct val="139982"/>
              </a:lnSpc>
            </a:pP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Using FaceNet Model  </a:t>
            </a:r>
            <a:endParaRPr lang="en-US" sz="1867" dirty="0"/>
          </a:p>
          <a:p>
            <a:pPr algn="ctr">
              <a:lnSpc>
                <a:spcPct val="139982"/>
              </a:lnSpc>
            </a:pP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  </a:t>
            </a:r>
            <a:endParaRPr sz="1867" dirty="0"/>
          </a:p>
        </p:txBody>
      </p:sp>
      <p:sp>
        <p:nvSpPr>
          <p:cNvPr id="261" name="Google Shape;261;p28"/>
          <p:cNvSpPr/>
          <p:nvPr/>
        </p:nvSpPr>
        <p:spPr>
          <a:xfrm>
            <a:off x="5704570" y="4794816"/>
            <a:ext cx="3894533" cy="769170"/>
          </a:xfrm>
          <a:custGeom>
            <a:avLst/>
            <a:gdLst/>
            <a:ahLst/>
            <a:cxnLst/>
            <a:rect l="l" t="t" r="r" b="b"/>
            <a:pathLst>
              <a:path w="5841799" h="1153755" extrusionOk="0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5" name="Google Shape;265;p28"/>
          <p:cNvSpPr txBox="1"/>
          <p:nvPr/>
        </p:nvSpPr>
        <p:spPr>
          <a:xfrm>
            <a:off x="6148567" y="3179618"/>
            <a:ext cx="2743200" cy="804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2"/>
              </a:lnSpc>
            </a:pP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Integrate</a:t>
            </a:r>
            <a:b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</a:b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 YOLO and FaceNet</a:t>
            </a:r>
            <a:endParaRPr sz="1867" dirty="0"/>
          </a:p>
        </p:txBody>
      </p:sp>
      <p:sp>
        <p:nvSpPr>
          <p:cNvPr id="267" name="Google Shape;267;p28"/>
          <p:cNvSpPr/>
          <p:nvPr/>
        </p:nvSpPr>
        <p:spPr>
          <a:xfrm>
            <a:off x="8843934" y="5029193"/>
            <a:ext cx="3894533" cy="924927"/>
          </a:xfrm>
          <a:custGeom>
            <a:avLst/>
            <a:gdLst/>
            <a:ahLst/>
            <a:cxnLst/>
            <a:rect l="l" t="t" r="r" b="b"/>
            <a:pathLst>
              <a:path w="5841799" h="1153755" extrusionOk="0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1" name="Google Shape;271;p28"/>
          <p:cNvSpPr txBox="1"/>
          <p:nvPr/>
        </p:nvSpPr>
        <p:spPr>
          <a:xfrm>
            <a:off x="9191067" y="3696001"/>
            <a:ext cx="2576200" cy="804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2"/>
              </a:lnSpc>
            </a:pP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User-Friendly Interface</a:t>
            </a:r>
            <a:endParaRPr sz="1867" dirty="0"/>
          </a:p>
        </p:txBody>
      </p:sp>
      <p:sp>
        <p:nvSpPr>
          <p:cNvPr id="273" name="Google Shape;273;p28"/>
          <p:cNvSpPr/>
          <p:nvPr/>
        </p:nvSpPr>
        <p:spPr>
          <a:xfrm rot="10800000" flipH="1">
            <a:off x="2860203" y="3356581"/>
            <a:ext cx="661000" cy="769200"/>
          </a:xfrm>
          <a:prstGeom prst="bentArrow">
            <a:avLst>
              <a:gd name="adj1" fmla="val 29611"/>
              <a:gd name="adj2" fmla="val 25000"/>
              <a:gd name="adj3" fmla="val 25000"/>
              <a:gd name="adj4" fmla="val 59082"/>
            </a:avLst>
          </a:prstGeom>
          <a:ln>
            <a:headEnd type="none" w="sm" len="sm"/>
            <a:tailEnd type="none" w="sm" len="sm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spcFirstLastPara="1" wrap="square" lIns="60950" tIns="60950" rIns="60950" bIns="60950" anchor="ctr" anchorCtr="0">
            <a:noAutofit/>
          </a:bodyPr>
          <a:lstStyle/>
          <a:p>
            <a:pPr algn="ctr"/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73;p28">
            <a:extLst>
              <a:ext uri="{FF2B5EF4-FFF2-40B4-BE49-F238E27FC236}">
                <a16:creationId xmlns:a16="http://schemas.microsoft.com/office/drawing/2014/main" id="{0E3FA45F-CC60-B971-EC9E-F0BFCB3C0AFE}"/>
              </a:ext>
            </a:extLst>
          </p:cNvPr>
          <p:cNvSpPr/>
          <p:nvPr/>
        </p:nvSpPr>
        <p:spPr>
          <a:xfrm rot="10800000" flipH="1">
            <a:off x="5663805" y="3821489"/>
            <a:ext cx="661000" cy="769200"/>
          </a:xfrm>
          <a:prstGeom prst="bentArrow">
            <a:avLst>
              <a:gd name="adj1" fmla="val 29611"/>
              <a:gd name="adj2" fmla="val 25000"/>
              <a:gd name="adj3" fmla="val 25000"/>
              <a:gd name="adj4" fmla="val 59082"/>
            </a:avLst>
          </a:prstGeom>
          <a:ln>
            <a:headEnd type="none" w="sm" len="sm"/>
            <a:tailEnd type="none" w="sm" len="sm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spcFirstLastPara="1" wrap="square" lIns="60950" tIns="60950" rIns="60950" bIns="60950" anchor="ctr" anchorCtr="0">
            <a:noAutofit/>
          </a:bodyPr>
          <a:lstStyle/>
          <a:p>
            <a:pPr algn="ctr"/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73;p28">
            <a:extLst>
              <a:ext uri="{FF2B5EF4-FFF2-40B4-BE49-F238E27FC236}">
                <a16:creationId xmlns:a16="http://schemas.microsoft.com/office/drawing/2014/main" id="{939DBD85-528C-5B7E-BF55-51EC6849B8DB}"/>
              </a:ext>
            </a:extLst>
          </p:cNvPr>
          <p:cNvSpPr/>
          <p:nvPr/>
        </p:nvSpPr>
        <p:spPr>
          <a:xfrm rot="10800000" flipH="1">
            <a:off x="8530030" y="4295524"/>
            <a:ext cx="661000" cy="769200"/>
          </a:xfrm>
          <a:prstGeom prst="bentArrow">
            <a:avLst>
              <a:gd name="adj1" fmla="val 29611"/>
              <a:gd name="adj2" fmla="val 25000"/>
              <a:gd name="adj3" fmla="val 25000"/>
              <a:gd name="adj4" fmla="val 59082"/>
            </a:avLst>
          </a:prstGeom>
          <a:ln>
            <a:headEnd type="none" w="sm" len="sm"/>
            <a:tailEnd type="none" w="sm" len="sm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spcFirstLastPara="1" wrap="square" lIns="60950" tIns="60950" rIns="60950" bIns="60950" anchor="ctr" anchorCtr="0">
            <a:noAutofit/>
          </a:bodyPr>
          <a:lstStyle/>
          <a:p>
            <a:pPr algn="ctr"/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34AD7A1-5071-726B-3A57-8E0AA790B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256;p28">
            <a:extLst>
              <a:ext uri="{FF2B5EF4-FFF2-40B4-BE49-F238E27FC236}">
                <a16:creationId xmlns:a16="http://schemas.microsoft.com/office/drawing/2014/main" id="{18712098-6C55-96EB-3FC1-D942736A8B1B}"/>
              </a:ext>
            </a:extLst>
          </p:cNvPr>
          <p:cNvSpPr/>
          <p:nvPr/>
        </p:nvSpPr>
        <p:spPr>
          <a:xfrm>
            <a:off x="2730786" y="4260033"/>
            <a:ext cx="3894533" cy="769170"/>
          </a:xfrm>
          <a:custGeom>
            <a:avLst/>
            <a:gdLst/>
            <a:ahLst/>
            <a:cxnLst/>
            <a:rect l="l" t="t" r="r" b="b"/>
            <a:pathLst>
              <a:path w="5841799" h="1153755" extrusionOk="0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Google Shape;244;p28">
            <a:extLst>
              <a:ext uri="{FF2B5EF4-FFF2-40B4-BE49-F238E27FC236}">
                <a16:creationId xmlns:a16="http://schemas.microsoft.com/office/drawing/2014/main" id="{00F4D1EE-0D2E-3E94-EFB9-98B4ACD0EB1C}"/>
              </a:ext>
            </a:extLst>
          </p:cNvPr>
          <p:cNvSpPr/>
          <p:nvPr/>
        </p:nvSpPr>
        <p:spPr>
          <a:xfrm>
            <a:off x="-175297" y="3632533"/>
            <a:ext cx="3894533" cy="769170"/>
          </a:xfrm>
          <a:custGeom>
            <a:avLst/>
            <a:gdLst/>
            <a:ahLst/>
            <a:cxnLst/>
            <a:rect l="l" t="t" r="r" b="b"/>
            <a:pathLst>
              <a:path w="5841799" h="1153755" extrusionOk="0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93" name="Google Shape;245;p28">
            <a:extLst>
              <a:ext uri="{FF2B5EF4-FFF2-40B4-BE49-F238E27FC236}">
                <a16:creationId xmlns:a16="http://schemas.microsoft.com/office/drawing/2014/main" id="{4AECC117-B40C-1F01-2987-AFBB405C591D}"/>
              </a:ext>
            </a:extLst>
          </p:cNvPr>
          <p:cNvGrpSpPr/>
          <p:nvPr/>
        </p:nvGrpSpPr>
        <p:grpSpPr>
          <a:xfrm>
            <a:off x="1746530" y="4410654"/>
            <a:ext cx="2742859" cy="1267955"/>
            <a:chOff x="-1" y="659418"/>
            <a:chExt cx="1554321" cy="710100"/>
          </a:xfrm>
        </p:grpSpPr>
        <p:sp>
          <p:nvSpPr>
            <p:cNvPr id="194" name="Google Shape;246;p28">
              <a:extLst>
                <a:ext uri="{FF2B5EF4-FFF2-40B4-BE49-F238E27FC236}">
                  <a16:creationId xmlns:a16="http://schemas.microsoft.com/office/drawing/2014/main" id="{0098FBA8-E580-5008-C942-87B916899411}"/>
                </a:ext>
              </a:extLst>
            </p:cNvPr>
            <p:cNvSpPr/>
            <p:nvPr/>
          </p:nvSpPr>
          <p:spPr>
            <a:xfrm>
              <a:off x="-1" y="660509"/>
              <a:ext cx="1554321" cy="708646"/>
            </a:xfrm>
            <a:custGeom>
              <a:avLst/>
              <a:gdLst/>
              <a:ahLst/>
              <a:cxnLst/>
              <a:rect l="l" t="t" r="r" b="b"/>
              <a:pathLst>
                <a:path w="1554321" h="1369365" extrusionOk="0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195" name="Google Shape;247;p28">
              <a:extLst>
                <a:ext uri="{FF2B5EF4-FFF2-40B4-BE49-F238E27FC236}">
                  <a16:creationId xmlns:a16="http://schemas.microsoft.com/office/drawing/2014/main" id="{0D499238-7798-60E2-3A82-15440F0BB9EC}"/>
                </a:ext>
              </a:extLst>
            </p:cNvPr>
            <p:cNvSpPr txBox="1"/>
            <p:nvPr/>
          </p:nvSpPr>
          <p:spPr>
            <a:xfrm>
              <a:off x="-1" y="659418"/>
              <a:ext cx="1554300" cy="71010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33867" tIns="33867" rIns="33867" bIns="33867" anchor="ctr" anchorCtr="0">
              <a:noAutofit/>
            </a:bodyPr>
            <a:lstStyle/>
            <a:p>
              <a:pPr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28"/>
          <p:cNvGrpSpPr/>
          <p:nvPr/>
        </p:nvGrpSpPr>
        <p:grpSpPr>
          <a:xfrm>
            <a:off x="10382479" y="5293651"/>
            <a:ext cx="3128684" cy="3128684"/>
            <a:chOff x="0" y="0"/>
            <a:chExt cx="812800" cy="812800"/>
          </a:xfrm>
        </p:grpSpPr>
        <p:sp>
          <p:nvSpPr>
            <p:cNvPr id="252" name="Google Shape;252;p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 cmpd="sng">
              <a:solidFill>
                <a:srgbClr val="FFFFFF">
                  <a:alpha val="1529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253" name="Google Shape;253;p2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28"/>
          <p:cNvGrpSpPr/>
          <p:nvPr/>
        </p:nvGrpSpPr>
        <p:grpSpPr>
          <a:xfrm>
            <a:off x="3211333" y="2453408"/>
            <a:ext cx="2742859" cy="1267955"/>
            <a:chOff x="-1" y="659418"/>
            <a:chExt cx="1554321" cy="710100"/>
          </a:xfrm>
        </p:grpSpPr>
        <p:sp>
          <p:nvSpPr>
            <p:cNvPr id="258" name="Google Shape;258;p28"/>
            <p:cNvSpPr/>
            <p:nvPr/>
          </p:nvSpPr>
          <p:spPr>
            <a:xfrm>
              <a:off x="-1" y="660509"/>
              <a:ext cx="1554321" cy="708646"/>
            </a:xfrm>
            <a:custGeom>
              <a:avLst/>
              <a:gdLst/>
              <a:ahLst/>
              <a:cxnLst/>
              <a:rect l="l" t="t" r="r" b="b"/>
              <a:pathLst>
                <a:path w="1554321" h="1369365" extrusionOk="0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259" name="Google Shape;259;p28"/>
            <p:cNvSpPr txBox="1"/>
            <p:nvPr/>
          </p:nvSpPr>
          <p:spPr>
            <a:xfrm>
              <a:off x="-1" y="659418"/>
              <a:ext cx="1554300" cy="71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28"/>
          <p:cNvSpPr/>
          <p:nvPr/>
        </p:nvSpPr>
        <p:spPr>
          <a:xfrm rot="10800000" flipH="1">
            <a:off x="5493067" y="3438033"/>
            <a:ext cx="661000" cy="7692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59082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/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72F47D-726E-3B6C-EEC5-4C79462A7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10" y="246534"/>
            <a:ext cx="10018713" cy="128770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Our Updated Solution</a:t>
            </a:r>
          </a:p>
        </p:txBody>
      </p:sp>
      <p:sp>
        <p:nvSpPr>
          <p:cNvPr id="13" name="Google Shape;255;p28">
            <a:extLst>
              <a:ext uri="{FF2B5EF4-FFF2-40B4-BE49-F238E27FC236}">
                <a16:creationId xmlns:a16="http://schemas.microsoft.com/office/drawing/2014/main" id="{BCDACC87-BE48-D864-9F0C-97DD831A3430}"/>
              </a:ext>
            </a:extLst>
          </p:cNvPr>
          <p:cNvSpPr txBox="1"/>
          <p:nvPr/>
        </p:nvSpPr>
        <p:spPr>
          <a:xfrm>
            <a:off x="1852448" y="4608703"/>
            <a:ext cx="2576200" cy="804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2"/>
              </a:lnSpc>
            </a:pP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Motion Tracking </a:t>
            </a:r>
          </a:p>
          <a:p>
            <a:pPr algn="ctr">
              <a:lnSpc>
                <a:spcPct val="139982"/>
              </a:lnSpc>
            </a:pP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Using FlowNet</a:t>
            </a:r>
            <a:endParaRPr sz="1867" dirty="0"/>
          </a:p>
        </p:txBody>
      </p:sp>
      <p:sp>
        <p:nvSpPr>
          <p:cNvPr id="14" name="Google Shape;273;p28">
            <a:extLst>
              <a:ext uri="{FF2B5EF4-FFF2-40B4-BE49-F238E27FC236}">
                <a16:creationId xmlns:a16="http://schemas.microsoft.com/office/drawing/2014/main" id="{AA4FE63F-A31D-686D-1D51-1A42681F7420}"/>
              </a:ext>
            </a:extLst>
          </p:cNvPr>
          <p:cNvSpPr/>
          <p:nvPr/>
        </p:nvSpPr>
        <p:spPr>
          <a:xfrm rot="5400000" flipH="1">
            <a:off x="5170125" y="3679849"/>
            <a:ext cx="891279" cy="2143970"/>
          </a:xfrm>
          <a:prstGeom prst="bentArrow">
            <a:avLst>
              <a:gd name="adj1" fmla="val 18838"/>
              <a:gd name="adj2" fmla="val 14014"/>
              <a:gd name="adj3" fmla="val 27853"/>
              <a:gd name="adj4" fmla="val 45078"/>
            </a:avLst>
          </a:prstGeom>
          <a:ln>
            <a:headEnd type="none" w="sm" len="sm"/>
            <a:tailEnd type="none" w="sm" len="sm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spcFirstLastPara="1" wrap="square" lIns="60950" tIns="60950" rIns="60950" bIns="60950" anchor="ctr" anchorCtr="0">
            <a:noAutofit/>
          </a:bodyPr>
          <a:lstStyle/>
          <a:p>
            <a:pPr algn="ctr"/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56;p28">
            <a:extLst>
              <a:ext uri="{FF2B5EF4-FFF2-40B4-BE49-F238E27FC236}">
                <a16:creationId xmlns:a16="http://schemas.microsoft.com/office/drawing/2014/main" id="{E3D960F5-8E14-3CF3-A42C-921688D5A522}"/>
              </a:ext>
            </a:extLst>
          </p:cNvPr>
          <p:cNvSpPr/>
          <p:nvPr/>
        </p:nvSpPr>
        <p:spPr>
          <a:xfrm>
            <a:off x="1069910" y="5907904"/>
            <a:ext cx="3894533" cy="769170"/>
          </a:xfrm>
          <a:custGeom>
            <a:avLst/>
            <a:gdLst/>
            <a:ahLst/>
            <a:cxnLst/>
            <a:rect l="l" t="t" r="r" b="b"/>
            <a:pathLst>
              <a:path w="5841799" h="1153755" extrusionOk="0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41" name="Google Shape;245;p28">
            <a:extLst>
              <a:ext uri="{FF2B5EF4-FFF2-40B4-BE49-F238E27FC236}">
                <a16:creationId xmlns:a16="http://schemas.microsoft.com/office/drawing/2014/main" id="{47C73973-25CE-5B75-2A22-7128C5AC1131}"/>
              </a:ext>
            </a:extLst>
          </p:cNvPr>
          <p:cNvGrpSpPr/>
          <p:nvPr/>
        </p:nvGrpSpPr>
        <p:grpSpPr>
          <a:xfrm>
            <a:off x="9128636" y="3438509"/>
            <a:ext cx="2742859" cy="1267955"/>
            <a:chOff x="-1" y="659418"/>
            <a:chExt cx="1554321" cy="710100"/>
          </a:xfrm>
        </p:grpSpPr>
        <p:sp>
          <p:nvSpPr>
            <p:cNvPr id="42" name="Google Shape;246;p28">
              <a:extLst>
                <a:ext uri="{FF2B5EF4-FFF2-40B4-BE49-F238E27FC236}">
                  <a16:creationId xmlns:a16="http://schemas.microsoft.com/office/drawing/2014/main" id="{8A87E069-8B53-3D6A-C161-DEB8962597B4}"/>
                </a:ext>
              </a:extLst>
            </p:cNvPr>
            <p:cNvSpPr/>
            <p:nvPr/>
          </p:nvSpPr>
          <p:spPr>
            <a:xfrm>
              <a:off x="-1" y="660509"/>
              <a:ext cx="1554321" cy="708646"/>
            </a:xfrm>
            <a:custGeom>
              <a:avLst/>
              <a:gdLst/>
              <a:ahLst/>
              <a:cxnLst/>
              <a:rect l="l" t="t" r="r" b="b"/>
              <a:pathLst>
                <a:path w="1554321" h="1369365" extrusionOk="0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43" name="Google Shape;247;p28">
              <a:extLst>
                <a:ext uri="{FF2B5EF4-FFF2-40B4-BE49-F238E27FC236}">
                  <a16:creationId xmlns:a16="http://schemas.microsoft.com/office/drawing/2014/main" id="{740CD9AC-04F0-32A8-2FE2-87A1CDC1FDCE}"/>
                </a:ext>
              </a:extLst>
            </p:cNvPr>
            <p:cNvSpPr txBox="1"/>
            <p:nvPr/>
          </p:nvSpPr>
          <p:spPr>
            <a:xfrm>
              <a:off x="-1" y="659418"/>
              <a:ext cx="1554300" cy="71010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33867" tIns="33867" rIns="33867" bIns="33867" anchor="ctr" anchorCtr="0">
              <a:noAutofit/>
            </a:bodyPr>
            <a:lstStyle/>
            <a:p>
              <a:pPr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245;p28">
            <a:extLst>
              <a:ext uri="{FF2B5EF4-FFF2-40B4-BE49-F238E27FC236}">
                <a16:creationId xmlns:a16="http://schemas.microsoft.com/office/drawing/2014/main" id="{6D99B45B-29EC-F3FF-B535-3CCE4B47A7B0}"/>
              </a:ext>
            </a:extLst>
          </p:cNvPr>
          <p:cNvGrpSpPr/>
          <p:nvPr/>
        </p:nvGrpSpPr>
        <p:grpSpPr>
          <a:xfrm>
            <a:off x="3353141" y="2527799"/>
            <a:ext cx="2742859" cy="1267955"/>
            <a:chOff x="-1" y="659418"/>
            <a:chExt cx="1554321" cy="710100"/>
          </a:xfrm>
        </p:grpSpPr>
        <p:sp>
          <p:nvSpPr>
            <p:cNvPr id="45" name="Google Shape;246;p28">
              <a:extLst>
                <a:ext uri="{FF2B5EF4-FFF2-40B4-BE49-F238E27FC236}">
                  <a16:creationId xmlns:a16="http://schemas.microsoft.com/office/drawing/2014/main" id="{B56CF84A-CD31-3562-5B7B-092C83662EE2}"/>
                </a:ext>
              </a:extLst>
            </p:cNvPr>
            <p:cNvSpPr/>
            <p:nvPr/>
          </p:nvSpPr>
          <p:spPr>
            <a:xfrm>
              <a:off x="-1" y="660509"/>
              <a:ext cx="1554321" cy="708646"/>
            </a:xfrm>
            <a:custGeom>
              <a:avLst/>
              <a:gdLst/>
              <a:ahLst/>
              <a:cxnLst/>
              <a:rect l="l" t="t" r="r" b="b"/>
              <a:pathLst>
                <a:path w="1554321" h="1369365" extrusionOk="0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46" name="Google Shape;247;p28">
              <a:extLst>
                <a:ext uri="{FF2B5EF4-FFF2-40B4-BE49-F238E27FC236}">
                  <a16:creationId xmlns:a16="http://schemas.microsoft.com/office/drawing/2014/main" id="{397D6A8A-CD67-8A5D-9732-0DE8AFF5BC2E}"/>
                </a:ext>
              </a:extLst>
            </p:cNvPr>
            <p:cNvSpPr txBox="1"/>
            <p:nvPr/>
          </p:nvSpPr>
          <p:spPr>
            <a:xfrm>
              <a:off x="-1" y="659418"/>
              <a:ext cx="1554300" cy="71010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33867" tIns="33867" rIns="33867" bIns="33867" anchor="ctr" anchorCtr="0">
              <a:noAutofit/>
            </a:bodyPr>
            <a:lstStyle/>
            <a:p>
              <a:pPr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245;p28">
            <a:extLst>
              <a:ext uri="{FF2B5EF4-FFF2-40B4-BE49-F238E27FC236}">
                <a16:creationId xmlns:a16="http://schemas.microsoft.com/office/drawing/2014/main" id="{CC33319C-FF8B-05FD-D2A1-027B61BC0A31}"/>
              </a:ext>
            </a:extLst>
          </p:cNvPr>
          <p:cNvGrpSpPr/>
          <p:nvPr/>
        </p:nvGrpSpPr>
        <p:grpSpPr>
          <a:xfrm>
            <a:off x="6233267" y="3009753"/>
            <a:ext cx="2742859" cy="1267955"/>
            <a:chOff x="-1" y="659418"/>
            <a:chExt cx="1554321" cy="710100"/>
          </a:xfrm>
        </p:grpSpPr>
        <p:sp>
          <p:nvSpPr>
            <p:cNvPr id="48" name="Google Shape;246;p28">
              <a:extLst>
                <a:ext uri="{FF2B5EF4-FFF2-40B4-BE49-F238E27FC236}">
                  <a16:creationId xmlns:a16="http://schemas.microsoft.com/office/drawing/2014/main" id="{4E783457-DC29-673C-0692-1A575AD4F241}"/>
                </a:ext>
              </a:extLst>
            </p:cNvPr>
            <p:cNvSpPr/>
            <p:nvPr/>
          </p:nvSpPr>
          <p:spPr>
            <a:xfrm>
              <a:off x="-1" y="660509"/>
              <a:ext cx="1554321" cy="708646"/>
            </a:xfrm>
            <a:custGeom>
              <a:avLst/>
              <a:gdLst/>
              <a:ahLst/>
              <a:cxnLst/>
              <a:rect l="l" t="t" r="r" b="b"/>
              <a:pathLst>
                <a:path w="1554321" h="1369365" extrusionOk="0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49" name="Google Shape;247;p28">
              <a:extLst>
                <a:ext uri="{FF2B5EF4-FFF2-40B4-BE49-F238E27FC236}">
                  <a16:creationId xmlns:a16="http://schemas.microsoft.com/office/drawing/2014/main" id="{4008E124-658A-1E62-7F2D-EC27D656844E}"/>
                </a:ext>
              </a:extLst>
            </p:cNvPr>
            <p:cNvSpPr txBox="1"/>
            <p:nvPr/>
          </p:nvSpPr>
          <p:spPr>
            <a:xfrm>
              <a:off x="-1" y="659418"/>
              <a:ext cx="1554300" cy="71010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33867" tIns="33867" rIns="33867" bIns="33867" anchor="ctr" anchorCtr="0">
              <a:noAutofit/>
            </a:bodyPr>
            <a:lstStyle/>
            <a:p>
              <a:pPr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245;p28">
            <a:extLst>
              <a:ext uri="{FF2B5EF4-FFF2-40B4-BE49-F238E27FC236}">
                <a16:creationId xmlns:a16="http://schemas.microsoft.com/office/drawing/2014/main" id="{8F675B57-0604-3311-C210-A1C2F7B4A1C0}"/>
              </a:ext>
            </a:extLst>
          </p:cNvPr>
          <p:cNvGrpSpPr/>
          <p:nvPr/>
        </p:nvGrpSpPr>
        <p:grpSpPr>
          <a:xfrm>
            <a:off x="468742" y="2083552"/>
            <a:ext cx="2742859" cy="1267955"/>
            <a:chOff x="-1" y="659418"/>
            <a:chExt cx="1554321" cy="710100"/>
          </a:xfrm>
        </p:grpSpPr>
        <p:sp>
          <p:nvSpPr>
            <p:cNvPr id="52" name="Google Shape;246;p28">
              <a:extLst>
                <a:ext uri="{FF2B5EF4-FFF2-40B4-BE49-F238E27FC236}">
                  <a16:creationId xmlns:a16="http://schemas.microsoft.com/office/drawing/2014/main" id="{C9E6D0B1-11E5-6132-34B3-983A8709F0C7}"/>
                </a:ext>
              </a:extLst>
            </p:cNvPr>
            <p:cNvSpPr/>
            <p:nvPr/>
          </p:nvSpPr>
          <p:spPr>
            <a:xfrm>
              <a:off x="-1" y="660509"/>
              <a:ext cx="1554321" cy="708646"/>
            </a:xfrm>
            <a:custGeom>
              <a:avLst/>
              <a:gdLst/>
              <a:ahLst/>
              <a:cxnLst/>
              <a:rect l="l" t="t" r="r" b="b"/>
              <a:pathLst>
                <a:path w="1554321" h="1369365" extrusionOk="0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53" name="Google Shape;247;p28">
              <a:extLst>
                <a:ext uri="{FF2B5EF4-FFF2-40B4-BE49-F238E27FC236}">
                  <a16:creationId xmlns:a16="http://schemas.microsoft.com/office/drawing/2014/main" id="{83D9468C-100C-BE5B-81ED-7DF9A18109AA}"/>
                </a:ext>
              </a:extLst>
            </p:cNvPr>
            <p:cNvSpPr txBox="1"/>
            <p:nvPr/>
          </p:nvSpPr>
          <p:spPr>
            <a:xfrm>
              <a:off x="-1" y="659418"/>
              <a:ext cx="1554300" cy="71010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33867" tIns="33867" rIns="33867" bIns="33867" anchor="ctr" anchorCtr="0">
              <a:noAutofit/>
            </a:bodyPr>
            <a:lstStyle/>
            <a:p>
              <a:pPr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" name="Google Shape;255;p28">
            <a:extLst>
              <a:ext uri="{FF2B5EF4-FFF2-40B4-BE49-F238E27FC236}">
                <a16:creationId xmlns:a16="http://schemas.microsoft.com/office/drawing/2014/main" id="{75320595-FC6E-B29F-E3C9-46D3F459B6AA}"/>
              </a:ext>
            </a:extLst>
          </p:cNvPr>
          <p:cNvSpPr txBox="1"/>
          <p:nvPr/>
        </p:nvSpPr>
        <p:spPr>
          <a:xfrm>
            <a:off x="552072" y="2261232"/>
            <a:ext cx="2576200" cy="1206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2"/>
              </a:lnSpc>
            </a:pP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Object Detection</a:t>
            </a:r>
          </a:p>
          <a:p>
            <a:pPr algn="ctr">
              <a:lnSpc>
                <a:spcPct val="139982"/>
              </a:lnSpc>
            </a:pP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Using YOLO Model</a:t>
            </a:r>
          </a:p>
          <a:p>
            <a:pPr algn="ctr">
              <a:lnSpc>
                <a:spcPct val="139982"/>
              </a:lnSpc>
            </a:pPr>
            <a:endParaRPr sz="1867" dirty="0"/>
          </a:p>
        </p:txBody>
      </p:sp>
      <p:sp>
        <p:nvSpPr>
          <p:cNvPr id="56" name="Google Shape;260;p28">
            <a:extLst>
              <a:ext uri="{FF2B5EF4-FFF2-40B4-BE49-F238E27FC236}">
                <a16:creationId xmlns:a16="http://schemas.microsoft.com/office/drawing/2014/main" id="{5E54DF8D-05E7-F50A-8FCF-8D1B68F37840}"/>
              </a:ext>
            </a:extLst>
          </p:cNvPr>
          <p:cNvSpPr txBox="1"/>
          <p:nvPr/>
        </p:nvSpPr>
        <p:spPr>
          <a:xfrm>
            <a:off x="3377983" y="2768484"/>
            <a:ext cx="2576200" cy="1206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2"/>
              </a:lnSpc>
            </a:pP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Facial Recognition</a:t>
            </a:r>
          </a:p>
          <a:p>
            <a:pPr algn="ctr">
              <a:lnSpc>
                <a:spcPct val="139982"/>
              </a:lnSpc>
            </a:pP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Using FaceNet Model  </a:t>
            </a:r>
            <a:endParaRPr lang="en-US" sz="1867" dirty="0"/>
          </a:p>
          <a:p>
            <a:pPr algn="ctr">
              <a:lnSpc>
                <a:spcPct val="139982"/>
              </a:lnSpc>
            </a:pP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  </a:t>
            </a:r>
            <a:endParaRPr sz="1867" dirty="0"/>
          </a:p>
        </p:txBody>
      </p:sp>
      <p:sp>
        <p:nvSpPr>
          <p:cNvPr id="57" name="Google Shape;261;p28">
            <a:extLst>
              <a:ext uri="{FF2B5EF4-FFF2-40B4-BE49-F238E27FC236}">
                <a16:creationId xmlns:a16="http://schemas.microsoft.com/office/drawing/2014/main" id="{2317465F-8AD0-4556-D5CC-AA00EB7951FE}"/>
              </a:ext>
            </a:extLst>
          </p:cNvPr>
          <p:cNvSpPr/>
          <p:nvPr/>
        </p:nvSpPr>
        <p:spPr>
          <a:xfrm>
            <a:off x="5704570" y="4794816"/>
            <a:ext cx="3894533" cy="769170"/>
          </a:xfrm>
          <a:custGeom>
            <a:avLst/>
            <a:gdLst/>
            <a:ahLst/>
            <a:cxnLst/>
            <a:rect l="l" t="t" r="r" b="b"/>
            <a:pathLst>
              <a:path w="5841799" h="1153755" extrusionOk="0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Google Shape;265;p28">
            <a:extLst>
              <a:ext uri="{FF2B5EF4-FFF2-40B4-BE49-F238E27FC236}">
                <a16:creationId xmlns:a16="http://schemas.microsoft.com/office/drawing/2014/main" id="{762A2202-B0F0-5548-2464-6B3D01CEE993}"/>
              </a:ext>
            </a:extLst>
          </p:cNvPr>
          <p:cNvSpPr txBox="1"/>
          <p:nvPr/>
        </p:nvSpPr>
        <p:spPr>
          <a:xfrm>
            <a:off x="6148567" y="3179618"/>
            <a:ext cx="2743200" cy="804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2"/>
              </a:lnSpc>
            </a:pP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Integrate</a:t>
            </a:r>
            <a:b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</a:b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 YOLO and FaceNet</a:t>
            </a:r>
            <a:endParaRPr sz="1867" dirty="0"/>
          </a:p>
        </p:txBody>
      </p:sp>
      <p:sp>
        <p:nvSpPr>
          <p:cNvPr id="59" name="Google Shape;267;p28">
            <a:extLst>
              <a:ext uri="{FF2B5EF4-FFF2-40B4-BE49-F238E27FC236}">
                <a16:creationId xmlns:a16="http://schemas.microsoft.com/office/drawing/2014/main" id="{D230FF08-899F-7BCB-C9FE-3CE17B603F82}"/>
              </a:ext>
            </a:extLst>
          </p:cNvPr>
          <p:cNvSpPr/>
          <p:nvPr/>
        </p:nvSpPr>
        <p:spPr>
          <a:xfrm>
            <a:off x="8843934" y="5029193"/>
            <a:ext cx="3894533" cy="924927"/>
          </a:xfrm>
          <a:custGeom>
            <a:avLst/>
            <a:gdLst/>
            <a:ahLst/>
            <a:cxnLst/>
            <a:rect l="l" t="t" r="r" b="b"/>
            <a:pathLst>
              <a:path w="5841799" h="1153755" extrusionOk="0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Google Shape;271;p28">
            <a:extLst>
              <a:ext uri="{FF2B5EF4-FFF2-40B4-BE49-F238E27FC236}">
                <a16:creationId xmlns:a16="http://schemas.microsoft.com/office/drawing/2014/main" id="{D4FAF938-A251-9465-A070-FBC2240C58CB}"/>
              </a:ext>
            </a:extLst>
          </p:cNvPr>
          <p:cNvSpPr txBox="1"/>
          <p:nvPr/>
        </p:nvSpPr>
        <p:spPr>
          <a:xfrm>
            <a:off x="9191067" y="3696001"/>
            <a:ext cx="2576200" cy="804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2"/>
              </a:lnSpc>
            </a:pPr>
            <a:r>
              <a:rPr lang="en-US" sz="1867" b="1" dirty="0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User-Friendly Interface</a:t>
            </a:r>
            <a:endParaRPr sz="1867" dirty="0"/>
          </a:p>
        </p:txBody>
      </p:sp>
      <p:sp>
        <p:nvSpPr>
          <p:cNvPr id="61" name="Google Shape;273;p28">
            <a:extLst>
              <a:ext uri="{FF2B5EF4-FFF2-40B4-BE49-F238E27FC236}">
                <a16:creationId xmlns:a16="http://schemas.microsoft.com/office/drawing/2014/main" id="{033DF6CB-0219-9ABC-B613-F69899065AB4}"/>
              </a:ext>
            </a:extLst>
          </p:cNvPr>
          <p:cNvSpPr/>
          <p:nvPr/>
        </p:nvSpPr>
        <p:spPr>
          <a:xfrm rot="10800000" flipH="1">
            <a:off x="2860203" y="3356581"/>
            <a:ext cx="661000" cy="769200"/>
          </a:xfrm>
          <a:prstGeom prst="bentArrow">
            <a:avLst>
              <a:gd name="adj1" fmla="val 29611"/>
              <a:gd name="adj2" fmla="val 25000"/>
              <a:gd name="adj3" fmla="val 25000"/>
              <a:gd name="adj4" fmla="val 59082"/>
            </a:avLst>
          </a:prstGeom>
          <a:ln>
            <a:headEnd type="none" w="sm" len="sm"/>
            <a:tailEnd type="none" w="sm" len="sm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spcFirstLastPara="1" wrap="square" lIns="60950" tIns="60950" rIns="60950" bIns="60950" anchor="ctr" anchorCtr="0">
            <a:noAutofit/>
          </a:bodyPr>
          <a:lstStyle/>
          <a:p>
            <a:pPr algn="ctr"/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276;p28">
            <a:extLst>
              <a:ext uri="{FF2B5EF4-FFF2-40B4-BE49-F238E27FC236}">
                <a16:creationId xmlns:a16="http://schemas.microsoft.com/office/drawing/2014/main" id="{1831F0C4-F7BF-9888-47BD-8B88AADEFF75}"/>
              </a:ext>
            </a:extLst>
          </p:cNvPr>
          <p:cNvSpPr txBox="1"/>
          <p:nvPr/>
        </p:nvSpPr>
        <p:spPr>
          <a:xfrm>
            <a:off x="-77362" y="5907904"/>
            <a:ext cx="756000" cy="687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7"/>
              </a:lnSpc>
            </a:pPr>
            <a:r>
              <a:rPr lang="en-US" sz="3189" b="1" dirty="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04</a:t>
            </a:r>
            <a:endParaRPr sz="1200" dirty="0">
              <a:solidFill>
                <a:schemeClr val="lt1"/>
              </a:solidFill>
            </a:endParaRPr>
          </a:p>
        </p:txBody>
      </p:sp>
      <p:sp>
        <p:nvSpPr>
          <p:cNvPr id="63" name="Google Shape;273;p28">
            <a:extLst>
              <a:ext uri="{FF2B5EF4-FFF2-40B4-BE49-F238E27FC236}">
                <a16:creationId xmlns:a16="http://schemas.microsoft.com/office/drawing/2014/main" id="{43862B7A-61CC-7730-B162-A6C26C0CEA9A}"/>
              </a:ext>
            </a:extLst>
          </p:cNvPr>
          <p:cNvSpPr/>
          <p:nvPr/>
        </p:nvSpPr>
        <p:spPr>
          <a:xfrm rot="10800000" flipH="1">
            <a:off x="5663805" y="3821489"/>
            <a:ext cx="661000" cy="769200"/>
          </a:xfrm>
          <a:prstGeom prst="bentArrow">
            <a:avLst>
              <a:gd name="adj1" fmla="val 29611"/>
              <a:gd name="adj2" fmla="val 25000"/>
              <a:gd name="adj3" fmla="val 25000"/>
              <a:gd name="adj4" fmla="val 59082"/>
            </a:avLst>
          </a:prstGeom>
          <a:ln>
            <a:headEnd type="none" w="sm" len="sm"/>
            <a:tailEnd type="none" w="sm" len="sm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spcFirstLastPara="1" wrap="square" lIns="60950" tIns="60950" rIns="60950" bIns="60950" anchor="ctr" anchorCtr="0">
            <a:noAutofit/>
          </a:bodyPr>
          <a:lstStyle/>
          <a:p>
            <a:pPr algn="ctr"/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273;p28">
            <a:extLst>
              <a:ext uri="{FF2B5EF4-FFF2-40B4-BE49-F238E27FC236}">
                <a16:creationId xmlns:a16="http://schemas.microsoft.com/office/drawing/2014/main" id="{1B782138-D40E-5343-D50F-087957D2EFBE}"/>
              </a:ext>
            </a:extLst>
          </p:cNvPr>
          <p:cNvSpPr/>
          <p:nvPr/>
        </p:nvSpPr>
        <p:spPr>
          <a:xfrm rot="10800000" flipH="1">
            <a:off x="8530030" y="4295524"/>
            <a:ext cx="661000" cy="769200"/>
          </a:xfrm>
          <a:prstGeom prst="bentArrow">
            <a:avLst>
              <a:gd name="adj1" fmla="val 29611"/>
              <a:gd name="adj2" fmla="val 25000"/>
              <a:gd name="adj3" fmla="val 25000"/>
              <a:gd name="adj4" fmla="val 59082"/>
            </a:avLst>
          </a:prstGeom>
          <a:ln>
            <a:headEnd type="none" w="sm" len="sm"/>
            <a:tailEnd type="none" w="sm" len="sm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spcFirstLastPara="1" wrap="square" lIns="60950" tIns="60950" rIns="60950" bIns="60950" anchor="ctr" anchorCtr="0">
            <a:noAutofit/>
          </a:bodyPr>
          <a:lstStyle/>
          <a:p>
            <a:pPr algn="ctr"/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273;p28">
            <a:extLst>
              <a:ext uri="{FF2B5EF4-FFF2-40B4-BE49-F238E27FC236}">
                <a16:creationId xmlns:a16="http://schemas.microsoft.com/office/drawing/2014/main" id="{A24FEF72-7262-8449-21E8-E0380E9DAC79}"/>
              </a:ext>
            </a:extLst>
          </p:cNvPr>
          <p:cNvSpPr/>
          <p:nvPr/>
        </p:nvSpPr>
        <p:spPr>
          <a:xfrm rot="10800000">
            <a:off x="4532914" y="3836569"/>
            <a:ext cx="661000" cy="769200"/>
          </a:xfrm>
          <a:prstGeom prst="bentArrow">
            <a:avLst>
              <a:gd name="adj1" fmla="val 29611"/>
              <a:gd name="adj2" fmla="val 25000"/>
              <a:gd name="adj3" fmla="val 25000"/>
              <a:gd name="adj4" fmla="val 59082"/>
            </a:avLst>
          </a:prstGeom>
          <a:ln>
            <a:headEnd type="none" w="sm" len="sm"/>
            <a:tailEnd type="none" w="sm" len="sm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spcFirstLastPara="1" wrap="square" lIns="60950" tIns="60950" rIns="60950" bIns="60950" anchor="ctr" anchorCtr="0">
            <a:noAutofit/>
          </a:bodyPr>
          <a:lstStyle/>
          <a:p>
            <a:pPr algn="ctr"/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Slide Number Placeholder 196">
            <a:extLst>
              <a:ext uri="{FF2B5EF4-FFF2-40B4-BE49-F238E27FC236}">
                <a16:creationId xmlns:a16="http://schemas.microsoft.com/office/drawing/2014/main" id="{868A4271-3C26-DF4F-1DDD-1C4AA4016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DC052-1B27-8037-4DBB-B4B07C00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180" y="35871"/>
            <a:ext cx="10515600" cy="1083615"/>
          </a:xfrm>
        </p:spPr>
        <p:txBody>
          <a:bodyPr>
            <a:normAutofit/>
          </a:bodyPr>
          <a:lstStyle/>
          <a:p>
            <a:r>
              <a:rPr lang="en-US" sz="4800" b="1" dirty="0"/>
              <a:t>System Flow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EA049F-AAE9-15ED-55DE-3425E3FE5BC0}"/>
              </a:ext>
            </a:extLst>
          </p:cNvPr>
          <p:cNvGrpSpPr/>
          <p:nvPr/>
        </p:nvGrpSpPr>
        <p:grpSpPr>
          <a:xfrm>
            <a:off x="1459698" y="1143358"/>
            <a:ext cx="9719733" cy="5535235"/>
            <a:chOff x="0" y="0"/>
            <a:chExt cx="7254603" cy="5946266"/>
          </a:xfrm>
        </p:grpSpPr>
        <p:sp>
          <p:nvSpPr>
            <p:cNvPr id="5" name="Diamond 4">
              <a:extLst>
                <a:ext uri="{FF2B5EF4-FFF2-40B4-BE49-F238E27FC236}">
                  <a16:creationId xmlns:a16="http://schemas.microsoft.com/office/drawing/2014/main" id="{53338525-391E-D806-80EB-5D02E94F54D0}"/>
                </a:ext>
              </a:extLst>
            </p:cNvPr>
            <p:cNvSpPr/>
            <p:nvPr/>
          </p:nvSpPr>
          <p:spPr>
            <a:xfrm>
              <a:off x="5477510" y="892636"/>
              <a:ext cx="1777093" cy="1722664"/>
            </a:xfrm>
            <a:prstGeom prst="diamond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11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Found person matching the photos? 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D5A6EC9-7387-B376-6EE2-2B24DA2743D7}"/>
                </a:ext>
              </a:extLst>
            </p:cNvPr>
            <p:cNvGrpSpPr/>
            <p:nvPr/>
          </p:nvGrpSpPr>
          <p:grpSpPr>
            <a:xfrm>
              <a:off x="0" y="0"/>
              <a:ext cx="7043057" cy="5946266"/>
              <a:chOff x="0" y="0"/>
              <a:chExt cx="7043057" cy="5946266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B7225DB-859C-6F8C-13A9-8142BA71FBF4}"/>
                  </a:ext>
                </a:extLst>
              </p:cNvPr>
              <p:cNvGrpSpPr/>
              <p:nvPr/>
            </p:nvGrpSpPr>
            <p:grpSpPr>
              <a:xfrm>
                <a:off x="0" y="0"/>
                <a:ext cx="7043057" cy="5946266"/>
                <a:chOff x="0" y="0"/>
                <a:chExt cx="7043057" cy="5946266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A0E56E08-18A4-C990-6F26-886B0617AF55}"/>
                    </a:ext>
                  </a:extLst>
                </p:cNvPr>
                <p:cNvSpPr/>
                <p:nvPr/>
              </p:nvSpPr>
              <p:spPr>
                <a:xfrm>
                  <a:off x="0" y="446315"/>
                  <a:ext cx="832757" cy="859972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endParaRPr lang="en-US" sz="11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 dirty="0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Upload person’s face images</a:t>
                  </a:r>
                </a:p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 dirty="0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 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054D32E9-B29B-B0CF-22F2-DD2D825B8950}"/>
                    </a:ext>
                  </a:extLst>
                </p:cNvPr>
                <p:cNvSpPr/>
                <p:nvPr/>
              </p:nvSpPr>
              <p:spPr>
                <a:xfrm>
                  <a:off x="97971" y="1447800"/>
                  <a:ext cx="718457" cy="576943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Upload video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0A778C2A-2243-76FC-64EE-15B525A59839}"/>
                    </a:ext>
                  </a:extLst>
                </p:cNvPr>
                <p:cNvSpPr/>
                <p:nvPr/>
              </p:nvSpPr>
              <p:spPr>
                <a:xfrm>
                  <a:off x="1208344" y="892610"/>
                  <a:ext cx="911542" cy="718185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Split the video into frames</a:t>
                  </a:r>
                </a:p>
              </p:txBody>
            </p:sp>
            <p:sp>
              <p:nvSpPr>
                <p:cNvPr id="17" name="Right Bracket 16">
                  <a:extLst>
                    <a:ext uri="{FF2B5EF4-FFF2-40B4-BE49-F238E27FC236}">
                      <a16:creationId xmlns:a16="http://schemas.microsoft.com/office/drawing/2014/main" id="{FD7BD08F-6C63-53A1-6626-37170FA4989E}"/>
                    </a:ext>
                  </a:extLst>
                </p:cNvPr>
                <p:cNvSpPr/>
                <p:nvPr/>
              </p:nvSpPr>
              <p:spPr>
                <a:xfrm>
                  <a:off x="805543" y="892629"/>
                  <a:ext cx="163286" cy="838200"/>
                </a:xfrm>
                <a:prstGeom prst="rightBracket">
                  <a:avLst/>
                </a:prstGeom>
                <a:noFill/>
                <a:ln w="571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 b="1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B614607B-9E80-C75D-DF76-2DC97DF70931}"/>
                    </a:ext>
                  </a:extLst>
                </p:cNvPr>
                <p:cNvSpPr/>
                <p:nvPr/>
              </p:nvSpPr>
              <p:spPr>
                <a:xfrm>
                  <a:off x="2362200" y="653143"/>
                  <a:ext cx="1120775" cy="1077686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 dirty="0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Identify suspicious object as persons in the frames by YOLO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B181A89-B11F-2DF0-FBE9-71A8CDC8C444}"/>
                    </a:ext>
                  </a:extLst>
                </p:cNvPr>
                <p:cNvSpPr/>
                <p:nvPr/>
              </p:nvSpPr>
              <p:spPr>
                <a:xfrm>
                  <a:off x="4781126" y="0"/>
                  <a:ext cx="870857" cy="849085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endParaRPr lang="en-US" sz="11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 dirty="0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Isolation of suspect object as a person</a:t>
                  </a:r>
                </a:p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 dirty="0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 </a:t>
                  </a: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0E0D408-65FC-1155-B841-EB084BCB1885}"/>
                    </a:ext>
                  </a:extLst>
                </p:cNvPr>
                <p:cNvSpPr/>
                <p:nvPr/>
              </p:nvSpPr>
              <p:spPr>
                <a:xfrm>
                  <a:off x="3989615" y="93134"/>
                  <a:ext cx="576943" cy="468086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endParaRPr lang="en-US" sz="11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 dirty="0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Store frame</a:t>
                  </a:r>
                </a:p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 dirty="0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 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64B1F4F2-9E16-779A-808D-38031E46AF2B}"/>
                    </a:ext>
                  </a:extLst>
                </p:cNvPr>
                <p:cNvSpPr/>
                <p:nvPr/>
              </p:nvSpPr>
              <p:spPr>
                <a:xfrm>
                  <a:off x="5878285" y="0"/>
                  <a:ext cx="1164772" cy="674915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 dirty="0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Running face recognition by FaceNet </a:t>
                  </a:r>
                </a:p>
              </p:txBody>
            </p:sp>
            <p:sp>
              <p:nvSpPr>
                <p:cNvPr id="22" name="Diamond 21">
                  <a:extLst>
                    <a:ext uri="{FF2B5EF4-FFF2-40B4-BE49-F238E27FC236}">
                      <a16:creationId xmlns:a16="http://schemas.microsoft.com/office/drawing/2014/main" id="{8D3D6211-6EBF-2B27-C4DE-4FAEB5FFED2B}"/>
                    </a:ext>
                  </a:extLst>
                </p:cNvPr>
                <p:cNvSpPr/>
                <p:nvPr/>
              </p:nvSpPr>
              <p:spPr>
                <a:xfrm>
                  <a:off x="3643993" y="824593"/>
                  <a:ext cx="1461135" cy="906145"/>
                </a:xfrm>
                <a:prstGeom prst="diamond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Is a Person?</a:t>
                  </a:r>
                </a:p>
              </p:txBody>
            </p: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6B273A84-96C7-C53C-E6AB-AA09F30A3452}"/>
                    </a:ext>
                  </a:extLst>
                </p:cNvPr>
                <p:cNvCxnSpPr/>
                <p:nvPr/>
              </p:nvCxnSpPr>
              <p:spPr>
                <a:xfrm>
                  <a:off x="968828" y="1295400"/>
                  <a:ext cx="23957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D453758D-B0AA-9B22-3DC7-F389A3EE7CC4}"/>
                    </a:ext>
                  </a:extLst>
                </p:cNvPr>
                <p:cNvCxnSpPr/>
                <p:nvPr/>
              </p:nvCxnSpPr>
              <p:spPr>
                <a:xfrm>
                  <a:off x="2122714" y="1295400"/>
                  <a:ext cx="23957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E9DF565E-3E03-572C-BD0C-FC89B1725235}"/>
                    </a:ext>
                  </a:extLst>
                </p:cNvPr>
                <p:cNvCxnSpPr>
                  <a:endCxn id="20" idx="2"/>
                </p:cNvCxnSpPr>
                <p:nvPr/>
              </p:nvCxnSpPr>
              <p:spPr>
                <a:xfrm flipH="1" flipV="1">
                  <a:off x="4277872" y="561208"/>
                  <a:ext cx="102644" cy="28757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06FD161C-6C34-DDD7-AB94-597FBD9D822E}"/>
                    </a:ext>
                  </a:extLst>
                </p:cNvPr>
                <p:cNvCxnSpPr/>
                <p:nvPr/>
              </p:nvCxnSpPr>
              <p:spPr>
                <a:xfrm>
                  <a:off x="4572000" y="391886"/>
                  <a:ext cx="23957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60AD6B86-C4C4-C3E9-A0DE-4C1232740C34}"/>
                    </a:ext>
                  </a:extLst>
                </p:cNvPr>
                <p:cNvCxnSpPr/>
                <p:nvPr/>
              </p:nvCxnSpPr>
              <p:spPr>
                <a:xfrm>
                  <a:off x="5627914" y="391886"/>
                  <a:ext cx="23957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A0979CC8-EB07-65D3-39D4-7880147AFC8D}"/>
                    </a:ext>
                  </a:extLst>
                </p:cNvPr>
                <p:cNvCxnSpPr/>
                <p:nvPr/>
              </p:nvCxnSpPr>
              <p:spPr>
                <a:xfrm flipH="1">
                  <a:off x="4269921" y="1730829"/>
                  <a:ext cx="65314" cy="206828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94A6749-BCD9-49A0-6EA8-52A00C060389}"/>
                    </a:ext>
                  </a:extLst>
                </p:cNvPr>
                <p:cNvSpPr/>
                <p:nvPr/>
              </p:nvSpPr>
              <p:spPr>
                <a:xfrm>
                  <a:off x="3995057" y="1937657"/>
                  <a:ext cx="576943" cy="468086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Skip frame</a:t>
                  </a:r>
                </a:p>
              </p:txBody>
            </p: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683A97E7-D44B-135E-DA05-C98301A86EAA}"/>
                    </a:ext>
                  </a:extLst>
                </p:cNvPr>
                <p:cNvCxnSpPr/>
                <p:nvPr/>
              </p:nvCxnSpPr>
              <p:spPr>
                <a:xfrm>
                  <a:off x="6319157" y="674915"/>
                  <a:ext cx="45719" cy="225878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6CCD68BC-BF1D-7960-AF16-BD647CB2B477}"/>
                    </a:ext>
                  </a:extLst>
                </p:cNvPr>
                <p:cNvCxnSpPr/>
                <p:nvPr/>
              </p:nvCxnSpPr>
              <p:spPr>
                <a:xfrm flipH="1">
                  <a:off x="4566557" y="1807029"/>
                  <a:ext cx="982073" cy="217351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C20A77DA-817A-09DD-D3A5-7125F85A9236}"/>
                    </a:ext>
                  </a:extLst>
                </p:cNvPr>
                <p:cNvSpPr/>
                <p:nvPr/>
              </p:nvSpPr>
              <p:spPr>
                <a:xfrm>
                  <a:off x="4448349" y="2982686"/>
                  <a:ext cx="1077595" cy="674370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Bound the person in frame</a:t>
                  </a:r>
                </a:p>
              </p:txBody>
            </p: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2E8C2FAF-12AE-66F1-12F0-7259F937C021}"/>
                    </a:ext>
                  </a:extLst>
                </p:cNvPr>
                <p:cNvCxnSpPr/>
                <p:nvPr/>
              </p:nvCxnSpPr>
              <p:spPr>
                <a:xfrm flipV="1">
                  <a:off x="2510049" y="3722535"/>
                  <a:ext cx="213489" cy="189569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D10F47D6-1C17-E40B-45F1-F8AC27664539}"/>
                    </a:ext>
                  </a:extLst>
                </p:cNvPr>
                <p:cNvSpPr/>
                <p:nvPr/>
              </p:nvSpPr>
              <p:spPr>
                <a:xfrm>
                  <a:off x="4811567" y="5173501"/>
                  <a:ext cx="838200" cy="511628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Return all frames 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7FA834A3-70B0-1CF4-7EA3-0E09F0481F1C}"/>
                    </a:ext>
                  </a:extLst>
                </p:cNvPr>
                <p:cNvSpPr/>
                <p:nvPr/>
              </p:nvSpPr>
              <p:spPr>
                <a:xfrm>
                  <a:off x="5861131" y="5173471"/>
                  <a:ext cx="924560" cy="772795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Return updated images data 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6E1563A0-E406-0F4C-107A-29DEBBA337F9}"/>
                    </a:ext>
                  </a:extLst>
                </p:cNvPr>
                <p:cNvSpPr/>
                <p:nvPr/>
              </p:nvSpPr>
              <p:spPr>
                <a:xfrm>
                  <a:off x="5878285" y="2993572"/>
                  <a:ext cx="957580" cy="826770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Update person’s face images Data </a:t>
                  </a:r>
                </a:p>
              </p:txBody>
            </p: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C5785EEA-8FA4-391A-43E5-A82737B18BB7}"/>
                    </a:ext>
                  </a:extLst>
                </p:cNvPr>
                <p:cNvCxnSpPr/>
                <p:nvPr/>
              </p:nvCxnSpPr>
              <p:spPr>
                <a:xfrm>
                  <a:off x="6362700" y="2590800"/>
                  <a:ext cx="45719" cy="402772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A1566081-167B-B796-2129-7AFDED043536}"/>
                    </a:ext>
                  </a:extLst>
                </p:cNvPr>
                <p:cNvCxnSpPr/>
                <p:nvPr/>
              </p:nvCxnSpPr>
              <p:spPr>
                <a:xfrm>
                  <a:off x="5025317" y="3667985"/>
                  <a:ext cx="1752" cy="184472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D5460EBC-F62A-6196-4E77-BE3D79BA3A50}"/>
                    </a:ext>
                  </a:extLst>
                </p:cNvPr>
                <p:cNvCxnSpPr/>
                <p:nvPr/>
              </p:nvCxnSpPr>
              <p:spPr>
                <a:xfrm>
                  <a:off x="3450771" y="1273629"/>
                  <a:ext cx="239576" cy="0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Right Bracket 39">
                  <a:extLst>
                    <a:ext uri="{FF2B5EF4-FFF2-40B4-BE49-F238E27FC236}">
                      <a16:creationId xmlns:a16="http://schemas.microsoft.com/office/drawing/2014/main" id="{0F3667D4-E472-0BC6-E9E8-800E78060870}"/>
                    </a:ext>
                  </a:extLst>
                </p:cNvPr>
                <p:cNvSpPr/>
                <p:nvPr/>
              </p:nvSpPr>
              <p:spPr>
                <a:xfrm rot="16200000">
                  <a:off x="5698297" y="4672721"/>
                  <a:ext cx="163286" cy="838200"/>
                </a:xfrm>
                <a:prstGeom prst="rightBracket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 b="1"/>
                </a:p>
              </p:txBody>
            </p: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6623ABD8-E05E-6DEB-1A71-210CF272BF51}"/>
                    </a:ext>
                  </a:extLst>
                </p:cNvPr>
                <p:cNvCxnSpPr/>
                <p:nvPr/>
              </p:nvCxnSpPr>
              <p:spPr>
                <a:xfrm flipH="1" flipV="1">
                  <a:off x="5497285" y="3214007"/>
                  <a:ext cx="363855" cy="45719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Diamond 41">
                  <a:extLst>
                    <a:ext uri="{FF2B5EF4-FFF2-40B4-BE49-F238E27FC236}">
                      <a16:creationId xmlns:a16="http://schemas.microsoft.com/office/drawing/2014/main" id="{C3F81410-0065-AB03-4442-D770160EBBA8}"/>
                    </a:ext>
                  </a:extLst>
                </p:cNvPr>
                <p:cNvSpPr/>
                <p:nvPr/>
              </p:nvSpPr>
              <p:spPr>
                <a:xfrm>
                  <a:off x="5104931" y="3865195"/>
                  <a:ext cx="1445819" cy="906145"/>
                </a:xfrm>
                <a:prstGeom prst="diamond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No more frames?</a:t>
                  </a:r>
                </a:p>
              </p:txBody>
            </p: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04EC64B1-7AF8-F4DB-CC12-3DB5868CB86D}"/>
                    </a:ext>
                  </a:extLst>
                </p:cNvPr>
                <p:cNvCxnSpPr/>
                <p:nvPr/>
              </p:nvCxnSpPr>
              <p:spPr>
                <a:xfrm flipH="1">
                  <a:off x="5827391" y="4770951"/>
                  <a:ext cx="225" cy="239199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9862EA84-BA58-5760-002E-1DCD3BA200FB}"/>
                    </a:ext>
                  </a:extLst>
                </p:cNvPr>
                <p:cNvSpPr/>
                <p:nvPr/>
              </p:nvSpPr>
              <p:spPr>
                <a:xfrm>
                  <a:off x="1873783" y="3912104"/>
                  <a:ext cx="1272532" cy="985810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 dirty="0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Detect moving objects by FlowNet in the bounded area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611B2E8D-45A2-35E5-1B35-2E9119C9A976}"/>
                    </a:ext>
                  </a:extLst>
                </p:cNvPr>
                <p:cNvCxnSpPr/>
                <p:nvPr/>
              </p:nvCxnSpPr>
              <p:spPr>
                <a:xfrm>
                  <a:off x="3573371" y="3084778"/>
                  <a:ext cx="874806" cy="39422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Diamond 45">
                  <a:extLst>
                    <a:ext uri="{FF2B5EF4-FFF2-40B4-BE49-F238E27FC236}">
                      <a16:creationId xmlns:a16="http://schemas.microsoft.com/office/drawing/2014/main" id="{D0830DC0-FFB8-A86D-2ADC-E2E660269D6C}"/>
                    </a:ext>
                  </a:extLst>
                </p:cNvPr>
                <p:cNvSpPr/>
                <p:nvPr/>
              </p:nvSpPr>
              <p:spPr>
                <a:xfrm>
                  <a:off x="1873566" y="2499361"/>
                  <a:ext cx="1700009" cy="1223174"/>
                </a:xfrm>
                <a:prstGeom prst="diamond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Found moving object?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AA9841F-DA7A-0848-D292-3339F61E3FC4}"/>
                    </a:ext>
                  </a:extLst>
                </p:cNvPr>
                <p:cNvSpPr/>
                <p:nvPr/>
              </p:nvSpPr>
              <p:spPr>
                <a:xfrm>
                  <a:off x="3482981" y="4060479"/>
                  <a:ext cx="1466552" cy="674370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b="1" dirty="0">
                      <a:effectLst/>
                      <a:ea typeface="Calibri" panose="020F0502020204030204" pitchFamily="34" charset="0"/>
                      <a:cs typeface="Arial" panose="020B0604020202020204" pitchFamily="34" charset="0"/>
                    </a:rPr>
                    <a:t>Compare current frame with previous frame by FlowNet</a:t>
                  </a:r>
                </a:p>
              </p:txBody>
            </p: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63736FE3-B85C-0D92-9CA3-382111445B8E}"/>
                    </a:ext>
                  </a:extLst>
                </p:cNvPr>
                <p:cNvCxnSpPr/>
                <p:nvPr/>
              </p:nvCxnSpPr>
              <p:spPr>
                <a:xfrm flipH="1">
                  <a:off x="3129856" y="4206006"/>
                  <a:ext cx="320864" cy="36703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882BB83D-7259-67FD-B01E-47D4B40F2409}"/>
                    </a:ext>
                  </a:extLst>
                </p:cNvPr>
                <p:cNvCxnSpPr/>
                <p:nvPr/>
              </p:nvCxnSpPr>
              <p:spPr>
                <a:xfrm flipV="1">
                  <a:off x="2723466" y="2171523"/>
                  <a:ext cx="1271437" cy="327634"/>
                </a:xfrm>
                <a:prstGeom prst="straightConnector1">
                  <a:avLst/>
                </a:prstGeom>
                <a:ln w="381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Right Bracket 49">
                  <a:extLst>
                    <a:ext uri="{FF2B5EF4-FFF2-40B4-BE49-F238E27FC236}">
                      <a16:creationId xmlns:a16="http://schemas.microsoft.com/office/drawing/2014/main" id="{CEEE4CC3-BD8B-B8C8-5153-280C5FDB22A5}"/>
                    </a:ext>
                  </a:extLst>
                </p:cNvPr>
                <p:cNvSpPr/>
                <p:nvPr/>
              </p:nvSpPr>
              <p:spPr>
                <a:xfrm rot="16200000">
                  <a:off x="4945620" y="3515224"/>
                  <a:ext cx="163286" cy="838200"/>
                </a:xfrm>
                <a:prstGeom prst="rightBracket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 b="1"/>
                </a:p>
              </p:txBody>
            </p:sp>
          </p:grpSp>
          <p:sp>
            <p:nvSpPr>
              <p:cNvPr id="8" name="Text Box 54">
                <a:extLst>
                  <a:ext uri="{FF2B5EF4-FFF2-40B4-BE49-F238E27FC236}">
                    <a16:creationId xmlns:a16="http://schemas.microsoft.com/office/drawing/2014/main" id="{DEE43C10-11C4-1117-3C79-E4D1B731704D}"/>
                  </a:ext>
                </a:extLst>
              </p:cNvPr>
              <p:cNvSpPr txBox="1"/>
              <p:nvPr/>
            </p:nvSpPr>
            <p:spPr>
              <a:xfrm>
                <a:off x="3878134" y="594416"/>
                <a:ext cx="391790" cy="230177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 b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Yes</a:t>
                </a:r>
              </a:p>
            </p:txBody>
          </p:sp>
          <p:sp>
            <p:nvSpPr>
              <p:cNvPr id="9" name="Text Box 54">
                <a:extLst>
                  <a:ext uri="{FF2B5EF4-FFF2-40B4-BE49-F238E27FC236}">
                    <a16:creationId xmlns:a16="http://schemas.microsoft.com/office/drawing/2014/main" id="{76BA4E0B-6249-1966-FEFD-3B4625FCFC7D}"/>
                  </a:ext>
                </a:extLst>
              </p:cNvPr>
              <p:cNvSpPr txBox="1"/>
              <p:nvPr/>
            </p:nvSpPr>
            <p:spPr>
              <a:xfrm>
                <a:off x="3819525" y="1657350"/>
                <a:ext cx="391160" cy="22987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 b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No</a:t>
                </a:r>
              </a:p>
            </p:txBody>
          </p:sp>
          <p:sp>
            <p:nvSpPr>
              <p:cNvPr id="10" name="Text Box 54">
                <a:extLst>
                  <a:ext uri="{FF2B5EF4-FFF2-40B4-BE49-F238E27FC236}">
                    <a16:creationId xmlns:a16="http://schemas.microsoft.com/office/drawing/2014/main" id="{9AA461A4-8619-DD7D-3B05-4714F1A1D491}"/>
                  </a:ext>
                </a:extLst>
              </p:cNvPr>
              <p:cNvSpPr txBox="1"/>
              <p:nvPr/>
            </p:nvSpPr>
            <p:spPr>
              <a:xfrm>
                <a:off x="5086350" y="1571625"/>
                <a:ext cx="391160" cy="22987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 b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No</a:t>
                </a:r>
              </a:p>
            </p:txBody>
          </p:sp>
          <p:sp>
            <p:nvSpPr>
              <p:cNvPr id="11" name="Text Box 54">
                <a:extLst>
                  <a:ext uri="{FF2B5EF4-FFF2-40B4-BE49-F238E27FC236}">
                    <a16:creationId xmlns:a16="http://schemas.microsoft.com/office/drawing/2014/main" id="{313F8F8C-A596-8F8C-3E26-BE3A98932D71}"/>
                  </a:ext>
                </a:extLst>
              </p:cNvPr>
              <p:cNvSpPr txBox="1"/>
              <p:nvPr/>
            </p:nvSpPr>
            <p:spPr>
              <a:xfrm>
                <a:off x="5924550" y="2638425"/>
                <a:ext cx="391160" cy="22987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 b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Yes</a:t>
                </a:r>
              </a:p>
            </p:txBody>
          </p:sp>
          <p:sp>
            <p:nvSpPr>
              <p:cNvPr id="12" name="Text Box 54">
                <a:extLst>
                  <a:ext uri="{FF2B5EF4-FFF2-40B4-BE49-F238E27FC236}">
                    <a16:creationId xmlns:a16="http://schemas.microsoft.com/office/drawing/2014/main" id="{C321DDAA-D179-C455-5D3D-0CED48ABFE3A}"/>
                  </a:ext>
                </a:extLst>
              </p:cNvPr>
              <p:cNvSpPr txBox="1"/>
              <p:nvPr/>
            </p:nvSpPr>
            <p:spPr>
              <a:xfrm>
                <a:off x="3752850" y="2857500"/>
                <a:ext cx="391160" cy="22987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 b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Yes</a:t>
                </a:r>
              </a:p>
            </p:txBody>
          </p:sp>
          <p:sp>
            <p:nvSpPr>
              <p:cNvPr id="13" name="Text Box 54">
                <a:extLst>
                  <a:ext uri="{FF2B5EF4-FFF2-40B4-BE49-F238E27FC236}">
                    <a16:creationId xmlns:a16="http://schemas.microsoft.com/office/drawing/2014/main" id="{D94BE516-91C5-2126-A832-569F7EF2816A}"/>
                  </a:ext>
                </a:extLst>
              </p:cNvPr>
              <p:cNvSpPr txBox="1"/>
              <p:nvPr/>
            </p:nvSpPr>
            <p:spPr>
              <a:xfrm>
                <a:off x="2971800" y="2105025"/>
                <a:ext cx="391160" cy="22987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 b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No</a:t>
                </a:r>
              </a:p>
            </p:txBody>
          </p:sp>
        </p:grpSp>
      </p:grp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8FE108D7-0A9C-377D-0039-E8E6980C7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b="1" smtClean="0"/>
              <a:t>6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631240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1109C-E94A-7027-9C51-32AF9D2A6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210" y="300942"/>
            <a:ext cx="10018713" cy="898966"/>
          </a:xfrm>
        </p:spPr>
        <p:txBody>
          <a:bodyPr>
            <a:normAutofit/>
          </a:bodyPr>
          <a:lstStyle/>
          <a:p>
            <a:r>
              <a:rPr lang="en-US" sz="4800" b="1" dirty="0"/>
              <a:t>YOLOv8 (You Only Look Once)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ED140-5D26-36AD-05C8-7EA7BE796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7880" y="1644491"/>
            <a:ext cx="5455920" cy="4351338"/>
          </a:xfrm>
        </p:spPr>
        <p:txBody>
          <a:bodyPr>
            <a:normAutofit/>
          </a:bodyPr>
          <a:lstStyle/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Object detection system</a:t>
            </a:r>
          </a:p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convolutional neural network</a:t>
            </a:r>
          </a:p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image is divided into a grid system</a:t>
            </a:r>
          </a:p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cell is responsible for detecting objects within itself</a:t>
            </a:r>
          </a:p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Draws predicted bounding boxes</a:t>
            </a:r>
          </a:p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Predicts object class probabilities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1A3B87-8509-4A34-BEEB-BD28CF811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888331"/>
            <a:ext cx="5367811" cy="33237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9BD64-DC39-18D3-3779-F6DD10F20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93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80C53-7E8A-B16A-9BEB-9D0A00250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689" y="280747"/>
            <a:ext cx="10018713" cy="1060620"/>
          </a:xfrm>
        </p:spPr>
        <p:txBody>
          <a:bodyPr>
            <a:normAutofit/>
          </a:bodyPr>
          <a:lstStyle/>
          <a:p>
            <a:r>
              <a:rPr lang="en-US" sz="4800" b="1" dirty="0"/>
              <a:t>FaceNet (Facial recognition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7BA6C-2B99-FFC3-4D34-153D0F023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8720" y="1549745"/>
            <a:ext cx="7040880" cy="4351338"/>
          </a:xfrm>
        </p:spPr>
        <p:txBody>
          <a:bodyPr>
            <a:normAutofit/>
          </a:bodyPr>
          <a:lstStyle/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Transforms facial images into a Euclidian space</a:t>
            </a:r>
          </a:p>
          <a:p>
            <a:r>
              <a:rPr lang="en-US" sz="2600" b="1" dirty="0">
                <a:solidFill>
                  <a:srgbClr val="051D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Uses deep CNN for feature extraction, embedding layer for fixed-size vector representation, and triplet loss for optimized face similarity.</a:t>
            </a:r>
          </a:p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well with different conditions like poses, lightning, expression.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E67132-475F-0716-8E52-17415585B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93608"/>
            <a:ext cx="4617720" cy="213455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7A359-68FF-D566-BCA8-716A40526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71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1">
            <a:extLst>
              <a:ext uri="{FF2B5EF4-FFF2-40B4-BE49-F238E27FC236}">
                <a16:creationId xmlns:a16="http://schemas.microsoft.com/office/drawing/2014/main" id="{A1FF4870-8C8A-E9A6-F979-384EC5DB2B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5412"/>
            <a:ext cx="5577697" cy="38566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28C522-84E0-E38B-5233-E43CDA608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71281"/>
            <a:ext cx="10018713" cy="956840"/>
          </a:xfrm>
        </p:spPr>
        <p:txBody>
          <a:bodyPr>
            <a:normAutofit/>
          </a:bodyPr>
          <a:lstStyle/>
          <a:p>
            <a:r>
              <a:rPr lang="en-US" sz="4800" b="1" dirty="0"/>
              <a:t>FlowNet (Optical Flow)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E1980-7723-5065-F3D5-018B4FEB1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6661" y="1728037"/>
            <a:ext cx="7175339" cy="4351338"/>
          </a:xfrm>
        </p:spPr>
        <p:txBody>
          <a:bodyPr>
            <a:no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deep learning framework for optical flow estimation in video analysis.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Measures object, surface, or edge movement between video frames, creating a dense map of motion vectors.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CNN that learns optical flow directly from data in an end-to-end manner (no handcrafted features).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Takes two consecutive frames as input and predicts motion vectors for each pixel.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2BE01-DEEF-A3D8-312F-46DC46334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80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23">
            <a:extLst>
              <a:ext uri="{FF2B5EF4-FFF2-40B4-BE49-F238E27FC236}">
                <a16:creationId xmlns:a16="http://schemas.microsoft.com/office/drawing/2014/main" id="{4ED3AA35-B29B-3653-5BF4-1CE348F72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0" y="329719"/>
            <a:ext cx="11981639" cy="61985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BEDDB4-9302-BC5D-7F3B-E3DEA36EA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0297" y="219355"/>
            <a:ext cx="9144000" cy="87782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Architecture</a:t>
            </a:r>
          </a:p>
        </p:txBody>
      </p:sp>
      <p:sp>
        <p:nvSpPr>
          <p:cNvPr id="125" name="Slide Number Placeholder 124">
            <a:extLst>
              <a:ext uri="{FF2B5EF4-FFF2-40B4-BE49-F238E27FC236}">
                <a16:creationId xmlns:a16="http://schemas.microsoft.com/office/drawing/2014/main" id="{E6EE92F0-37E5-5843-5EE3-513FDB87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27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7896A3F-B05E-F996-83B3-EFA2D540A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816" y="769150"/>
            <a:ext cx="5875207" cy="6088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4329B5-BAED-A97D-064B-119496C7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448" y="60226"/>
            <a:ext cx="5507640" cy="831025"/>
          </a:xfrm>
        </p:spPr>
        <p:txBody>
          <a:bodyPr>
            <a:noAutofit/>
          </a:bodyPr>
          <a:lstStyle/>
          <a:p>
            <a:r>
              <a:rPr lang="en-US" sz="4400" b="1" dirty="0"/>
              <a:t>Use Case Diagram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95FD5-DBFC-4694-CC68-41BD5A686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BF947-3B9D-FA5A-8F5F-A06A071DB491}"/>
              </a:ext>
            </a:extLst>
          </p:cNvPr>
          <p:cNvSpPr txBox="1"/>
          <p:nvPr/>
        </p:nvSpPr>
        <p:spPr>
          <a:xfrm>
            <a:off x="1434326" y="1018572"/>
            <a:ext cx="3912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– Full System View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91622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165FB-26F1-C177-1372-8398E6194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136101"/>
            <a:ext cx="10018713" cy="821803"/>
          </a:xfrm>
        </p:spPr>
        <p:txBody>
          <a:bodyPr>
            <a:normAutofit/>
          </a:bodyPr>
          <a:lstStyle/>
          <a:p>
            <a:r>
              <a:rPr lang="en-US" sz="4400" b="1" dirty="0"/>
              <a:t>Use Case Diagram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BA4436-881C-79C0-F06D-6B09A9896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031" y="1117736"/>
            <a:ext cx="7588797" cy="5685253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ECC0F26-6C30-7257-3E63-808F6048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12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C8F385-98DE-96E1-4D41-3F5138B040F4}"/>
              </a:ext>
            </a:extLst>
          </p:cNvPr>
          <p:cNvSpPr txBox="1"/>
          <p:nvPr/>
        </p:nvSpPr>
        <p:spPr>
          <a:xfrm>
            <a:off x="1542742" y="1117736"/>
            <a:ext cx="372373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– Person detection by YOLO+ identification by FaceNet</a:t>
            </a:r>
          </a:p>
        </p:txBody>
      </p:sp>
    </p:spTree>
    <p:extLst>
      <p:ext uri="{BB962C8B-B14F-4D97-AF65-F5344CB8AC3E}">
        <p14:creationId xmlns:p14="http://schemas.microsoft.com/office/powerpoint/2010/main" val="2450089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F59FA-932D-09F4-CF34-037A50260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141790"/>
            <a:ext cx="10018713" cy="762903"/>
          </a:xfrm>
        </p:spPr>
        <p:txBody>
          <a:bodyPr/>
          <a:lstStyle/>
          <a:p>
            <a:r>
              <a:rPr lang="en-US" sz="44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YOLO Pseudo-Code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ACE230-2D3C-FED3-9073-8E2ED853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13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2AC65D-BADD-4265-6CEB-7CA91CCE2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56" y="1287594"/>
            <a:ext cx="5569344" cy="49446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39E86E-29AB-5E02-5820-CC493FB18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320" y="1287594"/>
            <a:ext cx="5526960" cy="356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422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B102E-37B3-89AE-5A13-20DC3C784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14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42D3DEB-0FB7-4862-F417-93149B013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141790"/>
            <a:ext cx="10018713" cy="762903"/>
          </a:xfrm>
        </p:spPr>
        <p:txBody>
          <a:bodyPr/>
          <a:lstStyle/>
          <a:p>
            <a:r>
              <a:rPr lang="en-US" sz="44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FaceNet Pseudo-Code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3D7EB0-E6A4-58DA-39EC-E19836589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38" y="1353168"/>
            <a:ext cx="5723178" cy="45947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8B57D7-1806-0A9B-5CA8-C0CAC801A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972" y="1353168"/>
            <a:ext cx="5377931" cy="405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042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CBEDFC-6E33-3C8E-E66D-160564801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602" y="1117632"/>
            <a:ext cx="7576398" cy="43108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043B9D-C383-9BA2-5EBF-A8A0DF165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116" y="1117632"/>
            <a:ext cx="3411779" cy="1257781"/>
          </a:xfrm>
        </p:spPr>
        <p:txBody>
          <a:bodyPr>
            <a:normAutofit/>
          </a:bodyPr>
          <a:lstStyle/>
          <a:p>
            <a:r>
              <a:rPr lang="en-US" sz="3200" b="1" dirty="0"/>
              <a:t>– Person Tracking by FlowNet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FF6E4-B633-023D-8B70-1320FF38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15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1F600B2-B9D8-666A-84EE-DFC281BFC2C2}"/>
              </a:ext>
            </a:extLst>
          </p:cNvPr>
          <p:cNvSpPr txBox="1">
            <a:spLocks/>
          </p:cNvSpPr>
          <p:nvPr/>
        </p:nvSpPr>
        <p:spPr>
          <a:xfrm>
            <a:off x="3342180" y="220934"/>
            <a:ext cx="5507640" cy="83102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/>
              <a:t>Use Case Diagram </a:t>
            </a:r>
          </a:p>
        </p:txBody>
      </p:sp>
    </p:spTree>
    <p:extLst>
      <p:ext uri="{BB962C8B-B14F-4D97-AF65-F5344CB8AC3E}">
        <p14:creationId xmlns:p14="http://schemas.microsoft.com/office/powerpoint/2010/main" val="1869933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23B15-53D4-BA93-2B3C-0F4651958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16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1641AB1-7133-1076-CF96-1C61D0CE27B8}"/>
              </a:ext>
            </a:extLst>
          </p:cNvPr>
          <p:cNvSpPr txBox="1">
            <a:spLocks/>
          </p:cNvSpPr>
          <p:nvPr/>
        </p:nvSpPr>
        <p:spPr>
          <a:xfrm>
            <a:off x="1086643" y="141790"/>
            <a:ext cx="10018713" cy="76290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FlowNet Pseudo-Code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9F000D-C696-422D-988F-4E88617DB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26" y="1214024"/>
            <a:ext cx="5390456" cy="48616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73665D-42F1-3BBE-C92C-1BF5889E7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620" y="1214024"/>
            <a:ext cx="5613173" cy="458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66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7B9F3E-6105-3576-AA38-A7DE892E4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1" y="108141"/>
            <a:ext cx="12009199" cy="664171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5B157-01FE-C547-AEEB-9A11701B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17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86C5A02-A92D-207A-D27B-ADD664D2CF54}"/>
              </a:ext>
            </a:extLst>
          </p:cNvPr>
          <p:cNvSpPr txBox="1">
            <a:spLocks/>
          </p:cNvSpPr>
          <p:nvPr/>
        </p:nvSpPr>
        <p:spPr>
          <a:xfrm>
            <a:off x="3342180" y="220934"/>
            <a:ext cx="5507640" cy="83102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/>
              <a:t>Activity Diagram </a:t>
            </a:r>
          </a:p>
        </p:txBody>
      </p:sp>
    </p:spTree>
    <p:extLst>
      <p:ext uri="{BB962C8B-B14F-4D97-AF65-F5344CB8AC3E}">
        <p14:creationId xmlns:p14="http://schemas.microsoft.com/office/powerpoint/2010/main" val="4291254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DC5577-82E8-52CD-E7AE-8479D9D47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080" y="1076683"/>
            <a:ext cx="5133536" cy="5459832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9AC1D-42C4-7121-D2DC-B13CB84C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18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383C66-15C3-3738-C303-16585162D242}"/>
              </a:ext>
            </a:extLst>
          </p:cNvPr>
          <p:cNvSpPr txBox="1">
            <a:spLocks/>
          </p:cNvSpPr>
          <p:nvPr/>
        </p:nvSpPr>
        <p:spPr>
          <a:xfrm>
            <a:off x="3342180" y="220934"/>
            <a:ext cx="5507640" cy="83102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/>
              <a:t>User Interface</a:t>
            </a:r>
          </a:p>
        </p:txBody>
      </p:sp>
    </p:spTree>
    <p:extLst>
      <p:ext uri="{BB962C8B-B14F-4D97-AF65-F5344CB8AC3E}">
        <p14:creationId xmlns:p14="http://schemas.microsoft.com/office/powerpoint/2010/main" val="1271207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70DDDC-819A-8143-8CF1-116E619FF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690688"/>
            <a:ext cx="4377533" cy="4351338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8363B5-7CA1-4CDB-75A2-9DFE8F9173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518" y="1690688"/>
            <a:ext cx="4324033" cy="4351338"/>
          </a:xfrm>
          <a:prstGeom prst="rect">
            <a:avLst/>
          </a:prstGeom>
          <a:noFill/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0E199-D673-7FC9-30C4-49B18C8C3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19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3C803D6-05F6-1FDE-178E-B0FD40FFBFF3}"/>
              </a:ext>
            </a:extLst>
          </p:cNvPr>
          <p:cNvSpPr txBox="1">
            <a:spLocks/>
          </p:cNvSpPr>
          <p:nvPr/>
        </p:nvSpPr>
        <p:spPr>
          <a:xfrm>
            <a:off x="3342180" y="220934"/>
            <a:ext cx="5507640" cy="83102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/>
              <a:t>User Interface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157D42C-5123-5F1D-7A29-7CF96182E6CE}"/>
              </a:ext>
            </a:extLst>
          </p:cNvPr>
          <p:cNvSpPr/>
          <p:nvPr/>
        </p:nvSpPr>
        <p:spPr>
          <a:xfrm>
            <a:off x="5452533" y="3183467"/>
            <a:ext cx="1168400" cy="8310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2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17D815-B2D3-4D5C-7C3A-E48401C7A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533" y="1119308"/>
            <a:ext cx="7027334" cy="55177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F9E3F-7E4D-9E0F-8CF7-E006510E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20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1A9BF0C-52A8-8A17-0CE8-693C04F0EEB7}"/>
              </a:ext>
            </a:extLst>
          </p:cNvPr>
          <p:cNvSpPr txBox="1">
            <a:spLocks/>
          </p:cNvSpPr>
          <p:nvPr/>
        </p:nvSpPr>
        <p:spPr>
          <a:xfrm>
            <a:off x="3342180" y="220934"/>
            <a:ext cx="5507640" cy="83102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/>
              <a:t>User Interface</a:t>
            </a:r>
          </a:p>
        </p:txBody>
      </p:sp>
    </p:spTree>
    <p:extLst>
      <p:ext uri="{BB962C8B-B14F-4D97-AF65-F5344CB8AC3E}">
        <p14:creationId xmlns:p14="http://schemas.microsoft.com/office/powerpoint/2010/main" val="2712636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10,900+ Loading Icon Stock Illustrations, Royalty-Free Vector Graphics &amp;  Clip Art - iStock | Loading icon vector, Computer loading icon, Loading icon  circle">
            <a:extLst>
              <a:ext uri="{FF2B5EF4-FFF2-40B4-BE49-F238E27FC236}">
                <a16:creationId xmlns:a16="http://schemas.microsoft.com/office/drawing/2014/main" id="{0D445317-BCFB-CA67-26C1-D93E1D38E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587" y="1419927"/>
            <a:ext cx="1649730" cy="1649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ixelated videos : r/PleX">
            <a:extLst>
              <a:ext uri="{FF2B5EF4-FFF2-40B4-BE49-F238E27FC236}">
                <a16:creationId xmlns:a16="http://schemas.microsoft.com/office/drawing/2014/main" id="{BC8AAD6F-3E8B-F564-55BB-B8CFA1050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0873" y="3492342"/>
            <a:ext cx="3186748" cy="2388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5EE47-5CFC-C74C-2BB0-74A20D264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5910" y="2019299"/>
            <a:ext cx="6014425" cy="3124201"/>
          </a:xfrm>
        </p:spPr>
        <p:txBody>
          <a:bodyPr>
            <a:normAutofit/>
          </a:bodyPr>
          <a:lstStyle/>
          <a:p>
            <a:pPr>
              <a:buFont typeface="Calibri" panose="020F0502020204030204" pitchFamily="34" charset="0"/>
              <a:buChar char="X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Real time performance</a:t>
            </a:r>
          </a:p>
          <a:p>
            <a:pPr>
              <a:buFont typeface="Calibri" panose="020F0502020204030204" pitchFamily="34" charset="0"/>
              <a:buChar char="X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Low video quality</a:t>
            </a:r>
          </a:p>
          <a:p>
            <a:pPr>
              <a:buFont typeface="Calibri" panose="020F0502020204030204" pitchFamily="34" charset="0"/>
              <a:buChar char="X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Cross domain generalization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0EF2E-45A0-163C-52A5-5BD0E848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21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3CD0EB-2166-BE73-8B06-D7DB30B3C814}"/>
              </a:ext>
            </a:extLst>
          </p:cNvPr>
          <p:cNvSpPr txBox="1">
            <a:spLocks/>
          </p:cNvSpPr>
          <p:nvPr/>
        </p:nvSpPr>
        <p:spPr>
          <a:xfrm>
            <a:off x="3342180" y="220934"/>
            <a:ext cx="5507640" cy="83102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b="1" dirty="0"/>
              <a:t>Expected Problems</a:t>
            </a:r>
          </a:p>
        </p:txBody>
      </p:sp>
      <p:pic>
        <p:nvPicPr>
          <p:cNvPr id="3076" name="Picture 4" descr="Pixelated Video on One Channel - Support &amp; Troubleshooting - TabloTV  Community">
            <a:extLst>
              <a:ext uri="{FF2B5EF4-FFF2-40B4-BE49-F238E27FC236}">
                <a16:creationId xmlns:a16="http://schemas.microsoft.com/office/drawing/2014/main" id="{4760A8C4-0529-9B97-BD40-8BC161C3F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9820" y="1653268"/>
            <a:ext cx="2899927" cy="2651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&quot;Not Allowed&quot; Symbol 7">
            <a:extLst>
              <a:ext uri="{FF2B5EF4-FFF2-40B4-BE49-F238E27FC236}">
                <a16:creationId xmlns:a16="http://schemas.microsoft.com/office/drawing/2014/main" id="{731BD350-6B9D-7D52-A10A-FCBB55E854AB}"/>
              </a:ext>
            </a:extLst>
          </p:cNvPr>
          <p:cNvSpPr/>
          <p:nvPr/>
        </p:nvSpPr>
        <p:spPr>
          <a:xfrm>
            <a:off x="7399855" y="2646972"/>
            <a:ext cx="2899928" cy="2865358"/>
          </a:xfrm>
          <a:prstGeom prst="noSmoking">
            <a:avLst>
              <a:gd name="adj" fmla="val 10258"/>
            </a:avLst>
          </a:prstGeom>
          <a:solidFill>
            <a:schemeClr val="accent4">
              <a:alpha val="9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68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B24A6E-051A-B62A-39B5-C51D0E619B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0902874"/>
              </p:ext>
            </p:extLst>
          </p:nvPr>
        </p:nvGraphicFramePr>
        <p:xfrm>
          <a:off x="1071716" y="1445342"/>
          <a:ext cx="10332984" cy="4718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561">
                  <a:extLst>
                    <a:ext uri="{9D8B030D-6E8A-4147-A177-3AD203B41FA5}">
                      <a16:colId xmlns:a16="http://schemas.microsoft.com/office/drawing/2014/main" val="2762392318"/>
                    </a:ext>
                  </a:extLst>
                </a:gridCol>
                <a:gridCol w="3912056">
                  <a:extLst>
                    <a:ext uri="{9D8B030D-6E8A-4147-A177-3AD203B41FA5}">
                      <a16:colId xmlns:a16="http://schemas.microsoft.com/office/drawing/2014/main" val="3500848799"/>
                    </a:ext>
                  </a:extLst>
                </a:gridCol>
                <a:gridCol w="3933367">
                  <a:extLst>
                    <a:ext uri="{9D8B030D-6E8A-4147-A177-3AD203B41FA5}">
                      <a16:colId xmlns:a16="http://schemas.microsoft.com/office/drawing/2014/main" val="3293962825"/>
                    </a:ext>
                  </a:extLst>
                </a:gridCol>
              </a:tblGrid>
              <a:tr h="3847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Case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Description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Expected Result</a:t>
                      </a:r>
                      <a:endParaRPr lang="en-US" sz="1800" dirty="0"/>
                    </a:p>
                  </a:txBody>
                  <a:tcPr marL="87119" marR="87119"/>
                </a:tc>
                <a:extLst>
                  <a:ext uri="{0D108BD9-81ED-4DB2-BD59-A6C34878D82A}">
                    <a16:rowId xmlns:a16="http://schemas.microsoft.com/office/drawing/2014/main" val="3424757684"/>
                  </a:ext>
                </a:extLst>
              </a:tr>
              <a:tr h="811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Upload Video and Image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339" marR="653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Verify that the user can successfully upload a video and an image.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339" marR="653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Both files should be successfully uploaded.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339" marR="65339" marT="0" marB="0"/>
                </a:tc>
                <a:extLst>
                  <a:ext uri="{0D108BD9-81ED-4DB2-BD59-A6C34878D82A}">
                    <a16:rowId xmlns:a16="http://schemas.microsoft.com/office/drawing/2014/main" val="764658263"/>
                  </a:ext>
                </a:extLst>
              </a:tr>
              <a:tr h="85870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Detect Persons Using YOLO</a:t>
                      </a:r>
                      <a:endParaRPr lang="en-US" sz="1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339" marR="653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Verify that the system detects persons in each frame using YOLO.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339" marR="653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Persons should be detected with bounding boxes surrounding them.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339" marR="65339" marT="0" marB="0"/>
                </a:tc>
                <a:extLst>
                  <a:ext uri="{0D108BD9-81ED-4DB2-BD59-A6C34878D82A}">
                    <a16:rowId xmlns:a16="http://schemas.microsoft.com/office/drawing/2014/main" val="1601645972"/>
                  </a:ext>
                </a:extLst>
              </a:tr>
              <a:tr h="8877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 Embedding’s Using FaceNet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339" marR="653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Verify that the system generates embedding is for detected faces.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339" marR="653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system should generate a unique embedding for each detected face.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339" marR="65339" marT="0" marB="0"/>
                </a:tc>
                <a:extLst>
                  <a:ext uri="{0D108BD9-81ED-4DB2-BD59-A6C34878D82A}">
                    <a16:rowId xmlns:a16="http://schemas.microsoft.com/office/drawing/2014/main" val="320028223"/>
                  </a:ext>
                </a:extLst>
              </a:tr>
              <a:tr h="8877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Analyze Motion Using FlowNet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339" marR="653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Verify that the system analyzes motion between consecutive frames.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339" marR="653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Motion data should be generated for detected persons between frames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339" marR="65339" marT="0" marB="0"/>
                </a:tc>
                <a:extLst>
                  <a:ext uri="{0D108BD9-81ED-4DB2-BD59-A6C34878D82A}">
                    <a16:rowId xmlns:a16="http://schemas.microsoft.com/office/drawing/2014/main" val="3594300467"/>
                  </a:ext>
                </a:extLst>
              </a:tr>
              <a:tr h="8877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Track Detected Persons Across Frames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339" marR="653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Verify that the system tracks detected persons across multiple frames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339" marR="653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Persons should be consistently tracked across frames.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5339" marR="65339" marT="0" marB="0"/>
                </a:tc>
                <a:extLst>
                  <a:ext uri="{0D108BD9-81ED-4DB2-BD59-A6C34878D82A}">
                    <a16:rowId xmlns:a16="http://schemas.microsoft.com/office/drawing/2014/main" val="307488146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1944C-E0C5-FF4A-4AC5-EC9D27EA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22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5F2314F-FFD3-454C-A845-4D885174568A}"/>
              </a:ext>
            </a:extLst>
          </p:cNvPr>
          <p:cNvSpPr txBox="1">
            <a:spLocks/>
          </p:cNvSpPr>
          <p:nvPr/>
        </p:nvSpPr>
        <p:spPr>
          <a:xfrm>
            <a:off x="3342180" y="220934"/>
            <a:ext cx="5507640" cy="83102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b="1" dirty="0"/>
              <a:t>Evaluation Plan</a:t>
            </a:r>
          </a:p>
        </p:txBody>
      </p:sp>
    </p:spTree>
    <p:extLst>
      <p:ext uri="{BB962C8B-B14F-4D97-AF65-F5344CB8AC3E}">
        <p14:creationId xmlns:p14="http://schemas.microsoft.com/office/powerpoint/2010/main" val="858144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495AF-2F4C-5500-C330-805B736F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143" y="2376949"/>
            <a:ext cx="10018713" cy="1752599"/>
          </a:xfrm>
        </p:spPr>
        <p:txBody>
          <a:bodyPr>
            <a:normAutofit/>
          </a:bodyPr>
          <a:lstStyle/>
          <a:p>
            <a:r>
              <a:rPr lang="en-US" sz="5400" b="1" dirty="0"/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4527F-0233-00ED-ED6F-ED2621EC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51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31629-524F-6252-C67C-C1EBF9B86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173" y="748295"/>
            <a:ext cx="10229850" cy="632039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Ron Harel &amp; Itay Benjamin (2024). AI-Driven Person Recognition and Identification in Videos.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Schroff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Kalenichenko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D., &amp; Philbin, J. (2015).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Facenet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unified embedding for face recognition and clustering. In Proceedings of the IEEE conference on computer vision and pattern recognition (pp. 815-823).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Dosovitskiy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A., Fischer, P.,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Hausser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Hazirbas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Golkov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V., Van Der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Smagt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Cremers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D., &amp; Brox, T. (2015).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FlowNet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Learning Optical Flow with Convolutional Networks. IEEE International Conference on Computer Vision (ICCV).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[4] Horn, B. K.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Schunck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B. G. (1981). 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Determining optical flow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Artificial Intelligence, 17(1-3), 185–203.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[5] Lucas, B. D., &amp; Kanade, T. (1981). An iterative image registration technique with an application to stereo vision. Proceedings of the 7th International Joint Conference on Artificial Intelligence (IJCAI).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[6] Redmon, J.,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Divvala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Girshick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R., &amp; Farhadi, A. (2016). You only look once: Unified, real-time object detection. In Proceedings of the IEEE conference on computer vision and pattern recognition (pp. 779-788).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[7] Cao, Q., Shen, L., Xie, W.,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Parkhi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O. M., &amp; Zisserman, A. (2018, May). Vggface2: A dataset for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recognising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faces across pose and age. In 2018 13th IEEE international conference on automatic face &amp;gesture recognition (FG 2018) (pp. 67-74). IEEE.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[8] Wang, M., &amp; Deng, W. (2021). Deep face recognition: A survey. Neurocomputing, 429, 215-244.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[9] Jeremy Cohen. (2023 September). Computer Vision and Deep Learning: From Image to Video Analysis.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782D8-028E-1DF8-2E6C-6D6EC0F1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24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BBD4256-5C30-5684-9289-1CFC03DFBAD0}"/>
              </a:ext>
            </a:extLst>
          </p:cNvPr>
          <p:cNvSpPr txBox="1">
            <a:spLocks/>
          </p:cNvSpPr>
          <p:nvPr/>
        </p:nvSpPr>
        <p:spPr>
          <a:xfrm>
            <a:off x="3342180" y="49484"/>
            <a:ext cx="5507640" cy="83102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b="1" dirty="0"/>
              <a:t>References:</a:t>
            </a:r>
          </a:p>
        </p:txBody>
      </p:sp>
    </p:spTree>
    <p:extLst>
      <p:ext uri="{BB962C8B-B14F-4D97-AF65-F5344CB8AC3E}">
        <p14:creationId xmlns:p14="http://schemas.microsoft.com/office/powerpoint/2010/main" val="517761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6D95A-19AB-9FA0-2716-10185EBCD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6936" y="527935"/>
            <a:ext cx="10475129" cy="6116761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Krizhevsky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Sutskever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I., &amp; Hinton, G. E. (2012).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Imagenet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classification with deep convolutional neural networks. Advances in neural information processing systems, 25</a:t>
            </a: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[11] Wang, P., Li, W., Gao, Z., Tang, C.,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Ogunbona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P. O. (2018). Depth pooling based large-scale 3-d action recognition with convolutional neural networks. IEEE Transactions on Multimedia, 20(5), 1051-1061.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[12] Redmon, J.,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Divvala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Girshick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R., &amp; Farhadi, A. (2016). You only look once: Unified, real-time object detection. In Proceedings of the IEEE conference on computer vision and pattern recognition (pp. 779-788).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FlowNet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Pseudocode: 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GitHub - </a:t>
            </a:r>
            <a:r>
              <a:rPr lang="en-US" sz="1800" u="sng" dirty="0" err="1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ClementPinard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/</a:t>
            </a:r>
            <a:r>
              <a:rPr lang="en-US" sz="1800" u="sng" dirty="0" err="1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FlowNetPytorch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: </a:t>
            </a:r>
            <a:r>
              <a:rPr lang="en-US" sz="1800" u="sng" dirty="0" err="1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Pytorch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 implementation of </a:t>
            </a:r>
            <a:r>
              <a:rPr lang="en-US" sz="1800" u="sng" dirty="0" err="1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FlowNet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 by </a:t>
            </a:r>
            <a:r>
              <a:rPr lang="en-US" sz="1800" u="sng" dirty="0" err="1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Dosovitskiy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 et al.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14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FlowNetCorr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Pseudocode: 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FlowNetPytorch/models/FlowNetC.py at master · </a:t>
            </a:r>
            <a:r>
              <a:rPr lang="en-US" sz="1800" u="sng" dirty="0" err="1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ClementPinard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/</a:t>
            </a:r>
            <a:r>
              <a:rPr lang="en-US" sz="1800" u="sng" dirty="0" err="1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FlowNetPytorch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 · GitHub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FlowNetSimple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Pseudocode: 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FlowNetPytorch/models/FlowNetS.py at master · </a:t>
            </a:r>
            <a:r>
              <a:rPr lang="en-US" sz="1800" u="sng" dirty="0" err="1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ClementPinard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/</a:t>
            </a:r>
            <a:r>
              <a:rPr lang="en-US" sz="1800" u="sng" dirty="0" err="1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FlowNetPytorch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 · GitHub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[16] YOLO Pseudocode: 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YOLO Pseudocode.py · GitHub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[17] Python: 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6"/>
              </a:rPr>
              <a:t>Welcome to Python.org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[18] React: 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7"/>
              </a:rPr>
              <a:t>React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[19]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Cocodataset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official 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8"/>
              </a:rPr>
              <a:t>COCO - Common Objects in Context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[20]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FiftyOne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Integrations COCO Integration: 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9"/>
              </a:rPr>
              <a:t>COCO Integration — </a:t>
            </a:r>
            <a:r>
              <a:rPr lang="en-US" sz="1800" u="sng" dirty="0" err="1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9"/>
              </a:rPr>
              <a:t>FiftyOne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9"/>
              </a:rPr>
              <a:t> 1.3.0 documentation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[21] images of person detection : 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0"/>
              </a:rPr>
              <a:t>https://www.ntu.edu.sg/rose/research-focus/deep-learning-video-analytics/person-re-identification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46CFC-E053-428C-CBB8-97912BAE6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49F0-7D43-4B45-92EF-00662F64AB1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246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380</TotalTime>
  <Words>1492</Words>
  <Application>Microsoft Office PowerPoint</Application>
  <PresentationFormat>Widescreen</PresentationFormat>
  <Paragraphs>192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Calibri</vt:lpstr>
      <vt:lpstr>Corbel</vt:lpstr>
      <vt:lpstr>Open Sans ExtraBold</vt:lpstr>
      <vt:lpstr>Parallax</vt:lpstr>
      <vt:lpstr>Improvements in Person Identification in Video under constraints </vt:lpstr>
      <vt:lpstr>Overview</vt:lpstr>
      <vt:lpstr>Introduction</vt:lpstr>
      <vt:lpstr>PowerPoint Presentation</vt:lpstr>
      <vt:lpstr>Our Updated Solution</vt:lpstr>
      <vt:lpstr>System Flow</vt:lpstr>
      <vt:lpstr>YOLOv8 (You Only Look Once)</vt:lpstr>
      <vt:lpstr>FaceNet (Facial recognition model)</vt:lpstr>
      <vt:lpstr>FlowNet (Optical Flow)</vt:lpstr>
      <vt:lpstr>Architecture</vt:lpstr>
      <vt:lpstr>Use Case Diagram </vt:lpstr>
      <vt:lpstr>Use Case Diagram </vt:lpstr>
      <vt:lpstr>YOLO Pseudo-Code</vt:lpstr>
      <vt:lpstr>FaceNet Pseudo-Code</vt:lpstr>
      <vt:lpstr>– Person Tracking by FlowNet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Sim</dc:creator>
  <cp:lastModifiedBy>Alex Sim</cp:lastModifiedBy>
  <cp:revision>4</cp:revision>
  <dcterms:created xsi:type="dcterms:W3CDTF">2025-02-02T10:45:10Z</dcterms:created>
  <dcterms:modified xsi:type="dcterms:W3CDTF">2025-02-02T17:57:55Z</dcterms:modified>
</cp:coreProperties>
</file>